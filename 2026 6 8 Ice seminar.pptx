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35" r:id="rId5"/>
    <p:sldId id="336" r:id="rId6"/>
    <p:sldId id="350" r:id="rId7"/>
    <p:sldId id="355" r:id="rId8"/>
    <p:sldId id="357" r:id="rId9"/>
    <p:sldId id="364" r:id="rId10"/>
    <p:sldId id="366" r:id="rId11"/>
    <p:sldId id="368" r:id="rId12"/>
    <p:sldId id="365" r:id="rId13"/>
    <p:sldId id="367" r:id="rId14"/>
    <p:sldId id="362" r:id="rId15"/>
    <p:sldId id="3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7E7E"/>
    <a:srgbClr val="FFE5C9"/>
    <a:srgbClr val="FFFFFF"/>
    <a:srgbClr val="0000FF"/>
    <a:srgbClr val="F19A1B"/>
    <a:srgbClr val="95C9FF"/>
    <a:srgbClr val="002B95"/>
    <a:srgbClr val="FF9A9A"/>
    <a:srgbClr val="CE0A0A"/>
    <a:srgbClr val="F4AF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 marker distributions. Rectangles are error bars.</a:t>
            </a:r>
          </a:p>
          <a:p>
            <a:r>
              <a:rPr lang="en-US" dirty="0"/>
              <a:t>The blue rectangles are all the same, because all markers have been z-scored </a:t>
            </a:r>
            <a:r>
              <a:rPr lang="en-US" dirty="0" err="1"/>
              <a:t>wrt</a:t>
            </a:r>
            <a:r>
              <a:rPr lang="en-US" dirty="0"/>
              <a:t> H0.</a:t>
            </a:r>
          </a:p>
          <a:p>
            <a:r>
              <a:rPr lang="en-US" dirty="0"/>
              <a:t>Agreement with marker lit.</a:t>
            </a:r>
          </a:p>
          <a:p>
            <a:r>
              <a:rPr lang="en-US" dirty="0"/>
              <a:t>Lines are classification boundaries using each individual marker. Explain QDA.</a:t>
            </a:r>
          </a:p>
          <a:p>
            <a:r>
              <a:rPr lang="en-US" dirty="0"/>
              <a:t>When two distributions vary in mean as well as </a:t>
            </a:r>
            <a:r>
              <a:rPr lang="en-US" dirty="0" err="1"/>
              <a:t>sd</a:t>
            </a:r>
            <a:r>
              <a:rPr lang="en-US" dirty="0"/>
              <a:t>, </a:t>
            </a:r>
            <a:r>
              <a:rPr lang="en-US" dirty="0" err="1"/>
              <a:t>eg</a:t>
            </a:r>
            <a:r>
              <a:rPr lang="en-US" dirty="0"/>
              <a:t> cortisol, the best classification boundary is a quadratic, not a linear. It has two boundaries, not one.</a:t>
            </a:r>
          </a:p>
          <a:p>
            <a:r>
              <a:rPr lang="en-US" dirty="0"/>
              <a:t>But one of those two boundaries may do most of the job (explain alpha).</a:t>
            </a:r>
          </a:p>
          <a:p>
            <a:r>
              <a:rPr lang="en-US" dirty="0"/>
              <a:t>The 5-fold CV test accuracy is plotted below, and the markers have been sorted by this.</a:t>
            </a:r>
          </a:p>
          <a:p>
            <a:r>
              <a:rPr lang="en-US" dirty="0"/>
              <a:t>In most cases, using the best single boundary is enough.</a:t>
            </a:r>
          </a:p>
          <a:p>
            <a:r>
              <a:rPr lang="en-US" dirty="0" err="1"/>
              <a:t>Corti_sal</a:t>
            </a:r>
            <a:r>
              <a:rPr lang="en-US" dirty="0"/>
              <a:t> and </a:t>
            </a:r>
            <a:r>
              <a:rPr lang="en-US" dirty="0" err="1"/>
              <a:t>crp</a:t>
            </a:r>
            <a:r>
              <a:rPr lang="en-US" dirty="0"/>
              <a:t> are the best individual markers in distinguishing H from D.</a:t>
            </a:r>
          </a:p>
          <a:p>
            <a:r>
              <a:rPr lang="en-US" dirty="0"/>
              <a:t>The markers have been sorted by these, so the blue/red rectangles become more similar down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9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9052-277F-C3DF-7FB0-EF1F35ED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0C82D-9554-3999-7F58-7ED354D4C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16591-3D88-22E6-011C-862BB475F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2F68-126A-A5B4-16E8-9457C5D88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6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53E8-A553-DA2E-B617-01DCA607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A17F6-34F0-5051-4268-36DC523D0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4AD89-1AC8-E462-12A2-4C36EC806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BD8D8-7C61-27D0-0551-DA28222C3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1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7F52-62B3-10D4-060F-3529CC3E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FCFDC-B311-25B4-BF62-5D3095276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F9ABB-74A2-5A34-D034-1B69911D6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3BFF-3DEA-26CD-67FD-2AC356AA6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154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8DBC-8D9B-38BE-E79B-E8D0F97C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24599-C4E3-0BF6-925C-72B819944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1600E-E5E9-76D1-08A6-FAB12B351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FB51-90BA-872F-733C-1848FF8CD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745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E094-9E35-535C-6E22-8F0ED0E8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603D4-FB41-A51C-6791-E47AD3380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1DD7F-6562-6226-E50D-CD618E1BB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37BF3-8538-5984-0BD5-73165DD74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84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4345-68E9-FB78-D41C-0F406D00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27483-BE56-EF98-ACC0-2169AFF71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E1E62-FADA-4854-E9E4-457663E9A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4FA3-8462-05A4-B6C3-19949EF02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4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E8C1-5C4F-53B3-609C-D8351BFF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FAC13-4B5B-E719-A1BF-18F477040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D1214-B57E-2742-1E5D-E756D0AB1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75E3C-9F81-74F9-D7CF-DB0F21940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07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3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879982"/>
          </a:xfrm>
        </p:spPr>
        <p:txBody>
          <a:bodyPr anchor="b">
            <a:normAutofit/>
          </a:bodyPr>
          <a:lstStyle>
            <a:lvl1pPr>
              <a:defRPr sz="3200" b="0" cap="none" baseline="0">
                <a:latin typeface="Dosis Medium" panose="02010603020202060003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1543050"/>
            <a:ext cx="8324089" cy="402259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>
                <a:latin typeface="Dosis Light" pitchFamily="2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Dosis" panose="02010503020202060003" pitchFamily="2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>
              <a:latin typeface="Dosis" panose="02010503020202060003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9745" y="64989"/>
            <a:ext cx="2670048" cy="365125"/>
          </a:xfrm>
        </p:spPr>
        <p:txBody>
          <a:bodyPr/>
          <a:lstStyle>
            <a:lvl1pPr>
              <a:defRPr sz="1400" b="0">
                <a:latin typeface="Dosis" panose="02010503020202060003" pitchFamily="2" charset="0"/>
              </a:defRPr>
            </a:lvl1pPr>
          </a:lstStyle>
          <a:p>
            <a:r>
              <a:rPr lang="en-US" dirty="0"/>
              <a:t>slide </a:t>
            </a:r>
            <a:fld id="{B5CEABB6-07DC-46E8-9B57-56EC44A396E5}" type="slidenum">
              <a:rPr lang="en-US" smtClean="0"/>
              <a:pPr/>
              <a:t>‹#›</a:t>
            </a:fld>
            <a:r>
              <a:rPr lang="en-US" dirty="0"/>
              <a:t> of </a:t>
            </a:r>
            <a:endParaRPr lang="en-US" b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5323" y="111023"/>
            <a:ext cx="4551864" cy="3246634"/>
          </a:xfrm>
        </p:spPr>
        <p:txBody>
          <a:bodyPr>
            <a:normAutofit/>
          </a:bodyPr>
          <a:lstStyle/>
          <a:p>
            <a:r>
              <a:rPr lang="en-US" sz="4800" b="0" cap="none" dirty="0">
                <a:latin typeface="Dosis Medium" panose="02010603020202060003" pitchFamily="2" charset="0"/>
              </a:rPr>
              <a:t>Biomarkers in Treating Depression with Ayahuasca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89DB946-66F8-A3D6-BA8F-2C5B2DA131D1}"/>
              </a:ext>
            </a:extLst>
          </p:cNvPr>
          <p:cNvSpPr txBox="1">
            <a:spLocks/>
          </p:cNvSpPr>
          <p:nvPr/>
        </p:nvSpPr>
        <p:spPr>
          <a:xfrm>
            <a:off x="6845323" y="3627250"/>
            <a:ext cx="5455988" cy="1066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Dosis Medium" pitchFamily="2" charset="0"/>
              </a:rPr>
              <a:t>Abhranil Das (Nil)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AC20EB-02C3-A22D-E23D-432FE83B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" b="2"/>
          <a:stretch/>
        </p:blipFill>
        <p:spPr>
          <a:xfrm>
            <a:off x="6920954" y="4902944"/>
            <a:ext cx="1300849" cy="1274301"/>
          </a:xfrm>
          <a:prstGeom prst="ellipse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F980F-6401-31C9-59C6-2C43BBC6E393}"/>
              </a:ext>
            </a:extLst>
          </p:cNvPr>
          <p:cNvSpPr txBox="1">
            <a:spLocks/>
          </p:cNvSpPr>
          <p:nvPr/>
        </p:nvSpPr>
        <p:spPr>
          <a:xfrm>
            <a:off x="8419599" y="4813517"/>
            <a:ext cx="2518149" cy="5668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latin typeface="Dosis SemiBold" pitchFamily="2" charset="0"/>
              </a:rPr>
              <a:t>Dráulio Araújo</a:t>
            </a:r>
            <a:r>
              <a:rPr lang="en-US" sz="2400" dirty="0">
                <a:latin typeface="Dosis" panose="02010503020202060003" pitchFamily="2" charset="0"/>
              </a:rPr>
              <a:t> lab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82BD4E-B1A4-6D79-26C5-0691AF1B5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696" b="92220" l="5189" r="99451">
                        <a14:foregroundMark x1="5433" y1="40275" x2="5433" y2="40275"/>
                        <a14:foregroundMark x1="88767" y1="10984" x2="88767" y2="10984"/>
                        <a14:foregroundMark x1="83883" y1="15332" x2="91453" y2="72540"/>
                        <a14:foregroundMark x1="91453" y1="72540" x2="94505" y2="46682"/>
                        <a14:foregroundMark x1="78083" y1="55378" x2="92491" y2="87872"/>
                        <a14:foregroundMark x1="92491" y1="87872" x2="92491" y2="87872"/>
                        <a14:foregroundMark x1="99451" y1="67277" x2="92491" y2="66133"/>
                        <a14:foregroundMark x1="75763" y1="68421" x2="80403" y2="68421"/>
                        <a14:foregroundMark x1="77228" y1="84668" x2="85897" y2="80320"/>
                        <a14:foregroundMark x1="80403" y1="16476" x2="95604" y2="13043"/>
                        <a14:foregroundMark x1="95604" y1="13043" x2="79731" y2="23799"/>
                        <a14:foregroundMark x1="79731" y1="23799" x2="94200" y2="45995"/>
                        <a14:foregroundMark x1="94200" y1="45995" x2="93651" y2="37071"/>
                        <a14:foregroundMark x1="95665" y1="17620" x2="95116" y2="26316"/>
                        <a14:foregroundMark x1="93101" y1="21968" x2="93346" y2="26316"/>
                        <a14:foregroundMark x1="68010" y1="28375" x2="73504" y2="35927"/>
                        <a14:foregroundMark x1="71184" y1="7780" x2="68010" y2="74600"/>
                        <a14:foregroundMark x1="68010" y1="74600" x2="70024" y2="8924"/>
                        <a14:foregroundMark x1="67399" y1="79176" x2="67399" y2="92220"/>
                        <a14:foregroundMark x1="87607" y1="70481" x2="86752" y2="67277"/>
                        <a14:backgroundMark x1="21306" y1="33867" x2="21306" y2="338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599" y="5304961"/>
            <a:ext cx="3269471" cy="87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9EA4FF-0BB0-FB3F-10C5-787F3A4D8C93}"/>
              </a:ext>
            </a:extLst>
          </p:cNvPr>
          <p:cNvSpPr/>
          <p:nvPr/>
        </p:nvSpPr>
        <p:spPr>
          <a:xfrm>
            <a:off x="773647" y="3464643"/>
            <a:ext cx="5052118" cy="674284"/>
          </a:xfrm>
          <a:prstGeom prst="roundRect">
            <a:avLst>
              <a:gd name="adj" fmla="val 0"/>
            </a:avLst>
          </a:prstGeom>
          <a:solidFill>
            <a:srgbClr val="F9C9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4566" y="3464642"/>
            <a:ext cx="5762281" cy="2290617"/>
          </a:xfrm>
        </p:spPr>
        <p:txBody>
          <a:bodyPr>
            <a:normAutofit/>
          </a:bodyPr>
          <a:lstStyle/>
          <a:p>
            <a:r>
              <a:rPr lang="en-US" sz="2200" dirty="0"/>
              <a:t>How do biomarkers differ between healthy and depressed people?</a:t>
            </a:r>
          </a:p>
          <a:p>
            <a:r>
              <a:rPr lang="en-US" sz="2200" dirty="0"/>
              <a:t>How do biomarkers change after treatment in healthy and depressed people?</a:t>
            </a:r>
          </a:p>
          <a:p>
            <a:r>
              <a:rPr lang="en-US" sz="2200" dirty="0"/>
              <a:t>Which biomarker changes correlate </a:t>
            </a:r>
            <a:r>
              <a:rPr lang="en-US" sz="2200"/>
              <a:t>with reductions </a:t>
            </a:r>
            <a:r>
              <a:rPr lang="en-US" sz="2200" dirty="0"/>
              <a:t>in depression?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999" y="2727027"/>
            <a:ext cx="6208248" cy="594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Questions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8724C2-761D-2167-1A07-2A774E423374}"/>
              </a:ext>
            </a:extLst>
          </p:cNvPr>
          <p:cNvSpPr txBox="1">
            <a:spLocks/>
          </p:cNvSpPr>
          <p:nvPr/>
        </p:nvSpPr>
        <p:spPr>
          <a:xfrm>
            <a:off x="541999" y="365125"/>
            <a:ext cx="6535258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Ayahuasca clinical trial for depression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EAA4A3F-751E-2B0F-4CC4-221E814BBB5F}"/>
              </a:ext>
            </a:extLst>
          </p:cNvPr>
          <p:cNvSpPr txBox="1">
            <a:spLocks/>
          </p:cNvSpPr>
          <p:nvPr/>
        </p:nvSpPr>
        <p:spPr>
          <a:xfrm>
            <a:off x="514567" y="1102741"/>
            <a:ext cx="5829672" cy="2042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Dosis Medium" pitchFamily="2" charset="0"/>
              </a:rPr>
              <a:t>46</a:t>
            </a:r>
            <a:r>
              <a:rPr lang="en-US" sz="2200" dirty="0">
                <a:latin typeface="Dosis Light" pitchFamily="2" charset="0"/>
              </a:rPr>
              <a:t> healthy, </a:t>
            </a:r>
            <a:r>
              <a:rPr lang="en-US" sz="2200" dirty="0">
                <a:latin typeface="Dosis Medium" pitchFamily="2" charset="0"/>
              </a:rPr>
              <a:t>29</a:t>
            </a:r>
            <a:r>
              <a:rPr lang="en-US" sz="2200" dirty="0">
                <a:latin typeface="Dosis Light" pitchFamily="2" charset="0"/>
              </a:rPr>
              <a:t> with treatment-resistant depression</a:t>
            </a:r>
          </a:p>
          <a:p>
            <a:r>
              <a:rPr lang="en-US" sz="2200" dirty="0">
                <a:latin typeface="Dosis Light" pitchFamily="2" charset="0"/>
              </a:rPr>
              <a:t>Each group split into </a:t>
            </a:r>
            <a:r>
              <a:rPr lang="en-US" sz="2200" dirty="0">
                <a:latin typeface="Dosis Medium" pitchFamily="2" charset="0"/>
              </a:rPr>
              <a:t>ayahuasca</a:t>
            </a:r>
            <a:r>
              <a:rPr lang="en-US" sz="2200" dirty="0">
                <a:latin typeface="Dosis Light" pitchFamily="2" charset="0"/>
              </a:rPr>
              <a:t> and </a:t>
            </a:r>
            <a:r>
              <a:rPr lang="en-US" sz="2200" dirty="0">
                <a:latin typeface="Dosis Medium" pitchFamily="2" charset="0"/>
              </a:rPr>
              <a:t>placebo</a:t>
            </a:r>
          </a:p>
          <a:p>
            <a:r>
              <a:rPr lang="en-US" sz="2200" dirty="0">
                <a:latin typeface="Dosis Medium" pitchFamily="2" charset="0"/>
              </a:rPr>
              <a:t>25 biomarkers</a:t>
            </a:r>
            <a:r>
              <a:rPr lang="en-US" sz="2200" dirty="0">
                <a:latin typeface="Dosis Light" pitchFamily="2" charset="0"/>
              </a:rPr>
              <a:t> collected before and after treatment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E445B6-392A-3D42-BF25-E99B6EAED001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2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EC2AC08-4725-988C-2D5D-094B75E4743F}"/>
              </a:ext>
            </a:extLst>
          </p:cNvPr>
          <p:cNvGrpSpPr/>
          <p:nvPr/>
        </p:nvGrpSpPr>
        <p:grpSpPr>
          <a:xfrm>
            <a:off x="7576936" y="596825"/>
            <a:ext cx="4386640" cy="5962380"/>
            <a:chOff x="7608112" y="1104512"/>
            <a:chExt cx="4386640" cy="5962380"/>
          </a:xfrm>
        </p:grpSpPr>
        <p:pic>
          <p:nvPicPr>
            <p:cNvPr id="1026" name="Picture 2" descr="Human Anatomy: Organs &amp; Systems – Royalty-Free Vector | VectorStock">
              <a:extLst>
                <a:ext uri="{FF2B5EF4-FFF2-40B4-BE49-F238E27FC236}">
                  <a16:creationId xmlns:a16="http://schemas.microsoft.com/office/drawing/2014/main" id="{946F69ED-6819-64C1-7B50-4E53772A70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t="1329" b="8201"/>
            <a:stretch>
              <a:fillRect/>
            </a:stretch>
          </p:blipFill>
          <p:spPr bwMode="auto">
            <a:xfrm>
              <a:off x="8065008" y="1288114"/>
              <a:ext cx="3002280" cy="4091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8B4A14-9EF3-78E3-A01C-413B3E1EF5A8}"/>
                </a:ext>
              </a:extLst>
            </p:cNvPr>
            <p:cNvCxnSpPr>
              <a:cxnSpLocks/>
            </p:cNvCxnSpPr>
            <p:nvPr/>
          </p:nvCxnSpPr>
          <p:spPr>
            <a:xfrm>
              <a:off x="9290494" y="3810049"/>
              <a:ext cx="275654" cy="17529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EA5EAC-B2A0-9BF1-A97C-6000D24BEF5F}"/>
                </a:ext>
              </a:extLst>
            </p:cNvPr>
            <p:cNvSpPr txBox="1"/>
            <p:nvPr/>
          </p:nvSpPr>
          <p:spPr>
            <a:xfrm>
              <a:off x="8956945" y="5604953"/>
              <a:ext cx="1724856" cy="1461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kidney/adrenal glands:</a:t>
              </a:r>
            </a:p>
            <a:p>
              <a:r>
                <a:rPr lang="en-US" sz="1400" dirty="0">
                  <a:latin typeface="Dosis Medium" pitchFamily="2" charset="0"/>
                </a:rPr>
                <a:t>urea</a:t>
              </a:r>
            </a:p>
            <a:p>
              <a:r>
                <a:rPr lang="en-US" sz="1400" dirty="0">
                  <a:latin typeface="Dosis Medium" pitchFamily="2" charset="0"/>
                </a:rPr>
                <a:t>cortisol</a:t>
              </a:r>
            </a:p>
            <a:p>
              <a:r>
                <a:rPr lang="en-US" sz="1400" dirty="0">
                  <a:latin typeface="Dosis Medium" pitchFamily="2" charset="0"/>
                </a:rPr>
                <a:t>sodium</a:t>
              </a:r>
            </a:p>
            <a:p>
              <a:r>
                <a:rPr lang="en-US" sz="1400" dirty="0">
                  <a:latin typeface="Dosis Medium" pitchFamily="2" charset="0"/>
                </a:rPr>
                <a:t>creatinine</a:t>
              </a:r>
            </a:p>
            <a:p>
              <a:r>
                <a:rPr lang="en-US" sz="1400" dirty="0">
                  <a:latin typeface="Dosis Medium" pitchFamily="2" charset="0"/>
                </a:rPr>
                <a:t>potassium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B2EFED5-B40E-8D92-EE0E-D19EC994B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36236" y="1423447"/>
              <a:ext cx="629554" cy="1212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9D9867-C32B-A939-00D7-761629FE25BB}"/>
                </a:ext>
              </a:extLst>
            </p:cNvPr>
            <p:cNvSpPr txBox="1"/>
            <p:nvPr/>
          </p:nvSpPr>
          <p:spPr>
            <a:xfrm>
              <a:off x="10319930" y="1104512"/>
              <a:ext cx="93325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brain:</a:t>
              </a:r>
            </a:p>
            <a:p>
              <a:r>
                <a:rPr lang="en-US" sz="1400" dirty="0">
                  <a:latin typeface="Dosis Medium" pitchFamily="2" charset="0"/>
                </a:rPr>
                <a:t>BDNF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C6A781-28DC-9CE9-5089-A0B2C45D0A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7971" y="2620652"/>
              <a:ext cx="1247580" cy="2530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621251-85C3-FB78-BD8C-0E602624C165}"/>
                </a:ext>
              </a:extLst>
            </p:cNvPr>
            <p:cNvSpPr txBox="1"/>
            <p:nvPr/>
          </p:nvSpPr>
          <p:spPr>
            <a:xfrm>
              <a:off x="10936325" y="2200586"/>
              <a:ext cx="1058427" cy="2539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blood:</a:t>
              </a:r>
            </a:p>
            <a:p>
              <a:r>
                <a:rPr lang="en-US" sz="1400" dirty="0">
                  <a:latin typeface="Dosis Medium" pitchFamily="2" charset="0"/>
                </a:rPr>
                <a:t>IL-6</a:t>
              </a:r>
            </a:p>
            <a:p>
              <a:r>
                <a:rPr lang="en-US" sz="1400" dirty="0">
                  <a:latin typeface="Dosis Medium" pitchFamily="2" charset="0"/>
                </a:rPr>
                <a:t>RBC</a:t>
              </a:r>
            </a:p>
            <a:p>
              <a:r>
                <a:rPr lang="en-US" sz="1400" dirty="0">
                  <a:latin typeface="Dosis Medium" pitchFamily="2" charset="0"/>
                </a:rPr>
                <a:t>WBC</a:t>
              </a:r>
            </a:p>
            <a:p>
              <a:r>
                <a:rPr lang="en-US" sz="1400" dirty="0">
                  <a:latin typeface="Dosis Medium" pitchFamily="2" charset="0"/>
                </a:rPr>
                <a:t>platelets</a:t>
              </a:r>
            </a:p>
            <a:p>
              <a:r>
                <a:rPr lang="en-US" sz="1400" dirty="0">
                  <a:latin typeface="Dosis Medium" pitchFamily="2" charset="0"/>
                </a:rPr>
                <a:t>neutrophil</a:t>
              </a:r>
            </a:p>
            <a:p>
              <a:r>
                <a:rPr lang="en-US" sz="1400" dirty="0">
                  <a:latin typeface="Dosis Medium" pitchFamily="2" charset="0"/>
                </a:rPr>
                <a:t>monocyte</a:t>
              </a:r>
            </a:p>
            <a:p>
              <a:r>
                <a:rPr lang="en-US" sz="1400" dirty="0">
                  <a:latin typeface="Dosis Medium" pitchFamily="2" charset="0"/>
                </a:rPr>
                <a:t>eosinophil</a:t>
              </a:r>
            </a:p>
            <a:p>
              <a:r>
                <a:rPr lang="en-US" sz="1400" dirty="0">
                  <a:latin typeface="Dosis Medium" pitchFamily="2" charset="0"/>
                </a:rPr>
                <a:t>hematocrit</a:t>
              </a:r>
            </a:p>
            <a:p>
              <a:r>
                <a:rPr lang="en-US" sz="1400" dirty="0">
                  <a:latin typeface="Dosis Medium" pitchFamily="2" charset="0"/>
                </a:rPr>
                <a:t>hemoglobin</a:t>
              </a:r>
            </a:p>
            <a:p>
              <a:r>
                <a:rPr lang="en-US" sz="1400" dirty="0">
                  <a:latin typeface="Dosis Medium" pitchFamily="2" charset="0"/>
                </a:rPr>
                <a:t>lymphocyte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6E848FA-76B3-C931-AFAC-CB82B856C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3634" y="3234714"/>
              <a:ext cx="822659" cy="2314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16CF43-2221-B3F1-6C6B-75574C79A2B3}"/>
                </a:ext>
              </a:extLst>
            </p:cNvPr>
            <p:cNvSpPr txBox="1"/>
            <p:nvPr/>
          </p:nvSpPr>
          <p:spPr>
            <a:xfrm>
              <a:off x="7608112" y="2404042"/>
              <a:ext cx="1244340" cy="1892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Dosis Light" pitchFamily="2" charset="0"/>
                </a:rPr>
                <a:t>liver:</a:t>
              </a:r>
            </a:p>
            <a:p>
              <a:r>
                <a:rPr lang="en-US" sz="1400" dirty="0">
                  <a:latin typeface="Dosis Medium" pitchFamily="2" charset="0"/>
                </a:rPr>
                <a:t>CRP</a:t>
              </a:r>
            </a:p>
            <a:p>
              <a:r>
                <a:rPr lang="en-US" sz="1400" dirty="0">
                  <a:latin typeface="Dosis Medium" pitchFamily="2" charset="0"/>
                </a:rPr>
                <a:t>ALT</a:t>
              </a:r>
            </a:p>
            <a:p>
              <a:r>
                <a:rPr lang="en-US" sz="1400" dirty="0">
                  <a:latin typeface="Dosis Medium" pitchFamily="2" charset="0"/>
                </a:rPr>
                <a:t>AST</a:t>
              </a:r>
            </a:p>
            <a:p>
              <a:r>
                <a:rPr lang="en-US" sz="1400" dirty="0">
                  <a:latin typeface="Dosis Medium" pitchFamily="2" charset="0"/>
                </a:rPr>
                <a:t>LDL</a:t>
              </a:r>
            </a:p>
            <a:p>
              <a:r>
                <a:rPr lang="en-US" sz="1400" dirty="0">
                  <a:latin typeface="Dosis Medium" pitchFamily="2" charset="0"/>
                </a:rPr>
                <a:t>HDL</a:t>
              </a:r>
            </a:p>
            <a:p>
              <a:r>
                <a:rPr lang="en-US" sz="1400" dirty="0">
                  <a:latin typeface="Dosis Medium" pitchFamily="2" charset="0"/>
                </a:rPr>
                <a:t>glucose</a:t>
              </a:r>
            </a:p>
            <a:p>
              <a:r>
                <a:rPr lang="en-US" sz="1400" dirty="0">
                  <a:latin typeface="Dosis Medium" pitchFamily="2" charset="0"/>
                </a:rPr>
                <a:t>triglycerides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C0E726D-9D91-F3CA-DB4B-DEEBD88945F5}"/>
              </a:ext>
            </a:extLst>
          </p:cNvPr>
          <p:cNvSpPr txBox="1"/>
          <p:nvPr/>
        </p:nvSpPr>
        <p:spPr>
          <a:xfrm>
            <a:off x="561978" y="6231265"/>
            <a:ext cx="6495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 err="1">
                <a:latin typeface="Dosis Light" pitchFamily="2" charset="0"/>
              </a:rPr>
              <a:t>Palhano</a:t>
            </a:r>
            <a:r>
              <a:rPr lang="en-US" sz="1400" dirty="0">
                <a:latin typeface="Dosis Light" pitchFamily="2" charset="0"/>
              </a:rPr>
              <a:t>-Fontes </a:t>
            </a:r>
            <a:r>
              <a:rPr lang="en-US" sz="1400" i="1" dirty="0">
                <a:latin typeface="Dosis Light" pitchFamily="2" charset="0"/>
              </a:rPr>
              <a:t>et al  </a:t>
            </a:r>
            <a:r>
              <a:rPr lang="en-US" sz="1400" dirty="0">
                <a:latin typeface="Dosis Light" pitchFamily="2" charset="0"/>
              </a:rPr>
              <a:t>(2018). Rapid antidepressant effects of the psychedelic ayahuasca in treatment-resistant depression: a randomized placebo-controlled trial. </a:t>
            </a:r>
            <a:r>
              <a:rPr lang="en-US" sz="1400" i="1" dirty="0">
                <a:latin typeface="Dosis Light" pitchFamily="2" charset="0"/>
              </a:rPr>
              <a:t>Psychological Medicine</a:t>
            </a:r>
            <a:endParaRPr lang="en-US" sz="1400" dirty="0">
              <a:latin typeface="Dosi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uiExpand="1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F78906-AA63-4322-56DA-3555F468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D20C0-2490-148A-726E-37769463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0" t="4203" r="8261" b="15147"/>
          <a:stretch>
            <a:fillRect/>
          </a:stretch>
        </p:blipFill>
        <p:spPr>
          <a:xfrm>
            <a:off x="144848" y="887240"/>
            <a:ext cx="9138868" cy="535059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A89BB76-3496-3985-2859-3251D8BCCE72}"/>
              </a:ext>
            </a:extLst>
          </p:cNvPr>
          <p:cNvSpPr txBox="1">
            <a:spLocks/>
          </p:cNvSpPr>
          <p:nvPr/>
        </p:nvSpPr>
        <p:spPr>
          <a:xfrm>
            <a:off x="513052" y="153584"/>
            <a:ext cx="8519657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800" dirty="0"/>
              <a:t>1. How do biomarkers differ between </a:t>
            </a:r>
            <a:r>
              <a:rPr lang="en-US" sz="2800" dirty="0">
                <a:solidFill>
                  <a:srgbClr val="0000FF"/>
                </a:solidFill>
              </a:rPr>
              <a:t>healthy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depressed</a:t>
            </a:r>
            <a:r>
              <a:rPr lang="en-US" sz="2800" dirty="0"/>
              <a:t>?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EA1A55-EB82-1E53-27EC-B9C2FF145DBD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3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0E3DB-201E-4FC3-BC1D-0B27B92E0615}"/>
              </a:ext>
            </a:extLst>
          </p:cNvPr>
          <p:cNvSpPr txBox="1"/>
          <p:nvPr/>
        </p:nvSpPr>
        <p:spPr>
          <a:xfrm>
            <a:off x="7621552" y="1094206"/>
            <a:ext cx="1520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Dosis" panose="02010503020202060003" pitchFamily="2" charset="0"/>
              </a:rPr>
              <a:t>healthy</a:t>
            </a:r>
            <a:r>
              <a:rPr lang="en-US" sz="1400" dirty="0">
                <a:latin typeface="Dosis" panose="02010503020202060003" pitchFamily="2" charset="0"/>
              </a:rPr>
              <a:t>   </a:t>
            </a:r>
            <a:r>
              <a:rPr lang="en-US" sz="1400" dirty="0">
                <a:solidFill>
                  <a:srgbClr val="FF0000"/>
                </a:solidFill>
                <a:latin typeface="Dosis" panose="02010503020202060003" pitchFamily="2" charset="0"/>
              </a:rPr>
              <a:t>depressed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F7677-4804-A520-7EFA-52B3FFEC8BCC}"/>
              </a:ext>
            </a:extLst>
          </p:cNvPr>
          <p:cNvSpPr txBox="1"/>
          <p:nvPr/>
        </p:nvSpPr>
        <p:spPr>
          <a:xfrm>
            <a:off x="5954902" y="1094206"/>
            <a:ext cx="1380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Dosis" panose="02010503020202060003" pitchFamily="2" charset="0"/>
              </a:rPr>
              <a:t>QDA boundaries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543D9-9ACE-E2BC-4A96-3B31344D3C00}"/>
              </a:ext>
            </a:extLst>
          </p:cNvPr>
          <p:cNvSpPr txBox="1"/>
          <p:nvPr/>
        </p:nvSpPr>
        <p:spPr>
          <a:xfrm>
            <a:off x="9752419" y="450764"/>
            <a:ext cx="2383396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Light" pitchFamily="2" charset="0"/>
              </a:rPr>
              <a:t>Depressed have </a:t>
            </a:r>
            <a:r>
              <a:rPr lang="en-US" sz="1400" dirty="0">
                <a:latin typeface="Dosis Medium" pitchFamily="2" charset="0"/>
              </a:rPr>
              <a:t>both low and high salivary cortisol.</a:t>
            </a:r>
          </a:p>
          <a:p>
            <a:pPr>
              <a:spcBef>
                <a:spcPts val="600"/>
              </a:spcBef>
            </a:pPr>
            <a:r>
              <a:rPr lang="en-US" sz="1400" dirty="0">
                <a:latin typeface="Dosis Medium" pitchFamily="2" charset="0"/>
              </a:rPr>
              <a:t>       </a:t>
            </a:r>
            <a:r>
              <a:rPr lang="en-US" sz="1400" dirty="0">
                <a:latin typeface="Dosis Light" pitchFamily="2" charset="0"/>
              </a:rPr>
              <a:t>Low: fatigue / High: stress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Light" pitchFamily="2" charset="0"/>
              </a:rPr>
              <a:t>Here we need </a:t>
            </a:r>
            <a:r>
              <a:rPr lang="en-US" sz="1400" dirty="0">
                <a:latin typeface="Dosis Medium" pitchFamily="2" charset="0"/>
              </a:rPr>
              <a:t>2 boundaries.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Light" pitchFamily="2" charset="0"/>
              </a:rPr>
              <a:t>In depressed, CRP, triglycerides, glucose &amp; IL-6 are higher.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Light" pitchFamily="2" charset="0"/>
              </a:rPr>
              <a:t>1 boundary is good enough for most markers.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" pitchFamily="2" charset="0"/>
              </a:rPr>
              <a:t>Only </a:t>
            </a:r>
            <a:r>
              <a:rPr lang="en-US" sz="1400" dirty="0">
                <a:latin typeface="Dosis Medium" pitchFamily="2" charset="0"/>
              </a:rPr>
              <a:t>4 markers </a:t>
            </a:r>
            <a:r>
              <a:rPr lang="en-US" sz="1400" dirty="0">
                <a:latin typeface="Dosis Light" pitchFamily="2" charset="0"/>
              </a:rPr>
              <a:t>have significant </a:t>
            </a:r>
            <a:r>
              <a:rPr lang="en-US" sz="1400" dirty="0">
                <a:latin typeface="Dosis Medium" pitchFamily="2" charset="0"/>
              </a:rPr>
              <a:t>cross-validated</a:t>
            </a:r>
            <a:r>
              <a:rPr lang="en-US" sz="1400" dirty="0">
                <a:latin typeface="Dosis Light" pitchFamily="2" charset="0"/>
              </a:rPr>
              <a:t> separation.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Medium" pitchFamily="2" charset="0"/>
              </a:rPr>
              <a:t>Salivary cortisol </a:t>
            </a:r>
            <a:r>
              <a:rPr lang="en-US" sz="1400" dirty="0">
                <a:latin typeface="Dosis Light" pitchFamily="2" charset="0"/>
              </a:rPr>
              <a:t>and</a:t>
            </a:r>
            <a:r>
              <a:rPr lang="en-US" sz="1400" dirty="0">
                <a:latin typeface="Dosis Medium" pitchFamily="2" charset="0"/>
              </a:rPr>
              <a:t> CRP </a:t>
            </a:r>
            <a:r>
              <a:rPr lang="en-US" sz="1400" dirty="0">
                <a:latin typeface="Dosis Light" pitchFamily="2" charset="0"/>
              </a:rPr>
              <a:t>are the </a:t>
            </a:r>
            <a:r>
              <a:rPr lang="en-US" sz="1400" dirty="0">
                <a:latin typeface="Dosis Medium" pitchFamily="2" charset="0"/>
              </a:rPr>
              <a:t>best individual markers:  75% separation </a:t>
            </a:r>
            <a:r>
              <a:rPr lang="en-US" sz="1400" dirty="0">
                <a:latin typeface="Dosis" pitchFamily="2" charset="0"/>
              </a:rPr>
              <a:t>each.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Light" pitchFamily="2" charset="0"/>
              </a:rPr>
              <a:t>CRP: inflammation, fatigue, anhedonia.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Dosis Light" pitchFamily="2" charset="0"/>
              </a:rPr>
              <a:t>Top 2 markers </a:t>
            </a:r>
            <a:r>
              <a:rPr lang="en-US" sz="1400" dirty="0">
                <a:latin typeface="Dosis Medium" pitchFamily="2" charset="0"/>
              </a:rPr>
              <a:t>combined</a:t>
            </a:r>
            <a:r>
              <a:rPr lang="en-US" sz="1400" dirty="0">
                <a:latin typeface="Dosis Light" pitchFamily="2" charset="0"/>
              </a:rPr>
              <a:t> is even better: </a:t>
            </a:r>
            <a:r>
              <a:rPr lang="en-US" sz="1400" dirty="0">
                <a:latin typeface="Dosis Medium" pitchFamily="2" charset="0"/>
              </a:rPr>
              <a:t>84% separation.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F7F02D-19C8-BAC8-1AB9-37CF80475AAE}"/>
              </a:ext>
            </a:extLst>
          </p:cNvPr>
          <p:cNvSpPr txBox="1"/>
          <p:nvPr/>
        </p:nvSpPr>
        <p:spPr>
          <a:xfrm>
            <a:off x="4313938" y="5605477"/>
            <a:ext cx="1044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E7E7E"/>
                </a:solidFill>
                <a:latin typeface="Dosis" pitchFamily="2" charset="0"/>
              </a:rPr>
              <a:t>linear:</a:t>
            </a:r>
          </a:p>
          <a:p>
            <a:pPr algn="ctr"/>
            <a:r>
              <a:rPr lang="en-US" sz="1400" dirty="0">
                <a:solidFill>
                  <a:srgbClr val="7E7E7E"/>
                </a:solidFill>
                <a:latin typeface="Dosis" pitchFamily="2" charset="0"/>
              </a:rPr>
              <a:t>1 boundary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0BF142-DBD2-BF00-1A2A-BD8913B8FB6D}"/>
              </a:ext>
            </a:extLst>
          </p:cNvPr>
          <p:cNvSpPr txBox="1"/>
          <p:nvPr/>
        </p:nvSpPr>
        <p:spPr>
          <a:xfrm>
            <a:off x="3970533" y="4718705"/>
            <a:ext cx="1067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Dosis" pitchFamily="2" charset="0"/>
              </a:rPr>
              <a:t>quadratic:</a:t>
            </a:r>
          </a:p>
          <a:p>
            <a:pPr algn="ctr"/>
            <a:r>
              <a:rPr lang="en-US" sz="1400" dirty="0">
                <a:latin typeface="Dosis" pitchFamily="2" charset="0"/>
              </a:rPr>
              <a:t>2 boundaries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1124-0DF2-A189-5C45-5F624CEBEB90}"/>
              </a:ext>
            </a:extLst>
          </p:cNvPr>
          <p:cNvSpPr/>
          <p:nvPr/>
        </p:nvSpPr>
        <p:spPr>
          <a:xfrm>
            <a:off x="3454751" y="1094206"/>
            <a:ext cx="318342" cy="2899060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7E0BFD-2B4B-26CA-352C-F3FF9B86BDB3}"/>
              </a:ext>
            </a:extLst>
          </p:cNvPr>
          <p:cNvSpPr/>
          <p:nvPr/>
        </p:nvSpPr>
        <p:spPr>
          <a:xfrm>
            <a:off x="4683109" y="1094206"/>
            <a:ext cx="318342" cy="2436072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1AEBEA-B483-F98C-849A-24A5B352071C}"/>
              </a:ext>
            </a:extLst>
          </p:cNvPr>
          <p:cNvSpPr txBox="1"/>
          <p:nvPr/>
        </p:nvSpPr>
        <p:spPr>
          <a:xfrm>
            <a:off x="920742" y="4203228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***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70E18-ED6E-F54D-BB25-B4F47C84BC9A}"/>
              </a:ext>
            </a:extLst>
          </p:cNvPr>
          <p:cNvSpPr txBox="1"/>
          <p:nvPr/>
        </p:nvSpPr>
        <p:spPr>
          <a:xfrm>
            <a:off x="1225873" y="4413905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***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182A40-FDE1-1FF3-A32D-22D74B547B38}"/>
              </a:ext>
            </a:extLst>
          </p:cNvPr>
          <p:cNvSpPr txBox="1"/>
          <p:nvPr/>
        </p:nvSpPr>
        <p:spPr>
          <a:xfrm>
            <a:off x="1531004" y="4535822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***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571C30-F868-01BB-7A69-AFBC139F116A}"/>
              </a:ext>
            </a:extLst>
          </p:cNvPr>
          <p:cNvSpPr txBox="1"/>
          <p:nvPr/>
        </p:nvSpPr>
        <p:spPr>
          <a:xfrm>
            <a:off x="1927506" y="4657739"/>
            <a:ext cx="276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64C7DB-9805-43A4-F406-C3D7172DF64E}"/>
              </a:ext>
            </a:extLst>
          </p:cNvPr>
          <p:cNvSpPr txBox="1"/>
          <p:nvPr/>
        </p:nvSpPr>
        <p:spPr>
          <a:xfrm>
            <a:off x="2230556" y="4827016"/>
            <a:ext cx="276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260438-68B3-9E7C-335A-F3E56FF09FBE}"/>
              </a:ext>
            </a:extLst>
          </p:cNvPr>
          <p:cNvSpPr/>
          <p:nvPr/>
        </p:nvSpPr>
        <p:spPr>
          <a:xfrm>
            <a:off x="137874" y="4060618"/>
            <a:ext cx="9254690" cy="2578129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6B18C-8524-4B6E-F20A-8F6B545BD0EE}"/>
              </a:ext>
            </a:extLst>
          </p:cNvPr>
          <p:cNvSpPr/>
          <p:nvPr/>
        </p:nvSpPr>
        <p:spPr>
          <a:xfrm>
            <a:off x="1296092" y="1094206"/>
            <a:ext cx="318342" cy="2899060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F9071F-753F-4415-2C23-7723C0F6C631}"/>
              </a:ext>
            </a:extLst>
          </p:cNvPr>
          <p:cNvSpPr/>
          <p:nvPr/>
        </p:nvSpPr>
        <p:spPr>
          <a:xfrm>
            <a:off x="1602859" y="1094206"/>
            <a:ext cx="318342" cy="2540245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3B406E-468A-F643-2B9B-4AA6724A9D5D}"/>
              </a:ext>
            </a:extLst>
          </p:cNvPr>
          <p:cNvSpPr/>
          <p:nvPr/>
        </p:nvSpPr>
        <p:spPr>
          <a:xfrm>
            <a:off x="2227968" y="1094206"/>
            <a:ext cx="318342" cy="3132284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5C192F-9B17-CFDD-9DC8-F09C8B910892}"/>
              </a:ext>
            </a:extLst>
          </p:cNvPr>
          <p:cNvSpPr/>
          <p:nvPr/>
        </p:nvSpPr>
        <p:spPr>
          <a:xfrm>
            <a:off x="1296091" y="1094206"/>
            <a:ext cx="625109" cy="2899060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A96D3C-BCA2-35E1-296B-4BAB7B88F78F}"/>
              </a:ext>
            </a:extLst>
          </p:cNvPr>
          <p:cNvSpPr/>
          <p:nvPr/>
        </p:nvSpPr>
        <p:spPr>
          <a:xfrm>
            <a:off x="977750" y="1094206"/>
            <a:ext cx="318342" cy="2685818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B15941-3CD8-421C-3900-4B19B1C164C8}"/>
              </a:ext>
            </a:extLst>
          </p:cNvPr>
          <p:cNvSpPr/>
          <p:nvPr/>
        </p:nvSpPr>
        <p:spPr>
          <a:xfrm>
            <a:off x="1290303" y="1094205"/>
            <a:ext cx="1254431" cy="3126615"/>
          </a:xfrm>
          <a:prstGeom prst="rect">
            <a:avLst/>
          </a:prstGeom>
          <a:solidFill>
            <a:srgbClr val="F9AA19">
              <a:alpha val="14902"/>
            </a:srgbClr>
          </a:solidFill>
          <a:ln w="12700">
            <a:solidFill>
              <a:srgbClr val="F9A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913B63-BB5F-79F4-3F9B-BC905554E8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133"/>
          <a:stretch>
            <a:fillRect/>
          </a:stretch>
        </p:blipFill>
        <p:spPr>
          <a:xfrm>
            <a:off x="9237602" y="895539"/>
            <a:ext cx="625109" cy="230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7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allAtOnce"/>
      <p:bldP spid="34" grpId="0" uiExpand="1" animBg="1"/>
      <p:bldP spid="34" grpId="1" uiExpand="1" animBg="1"/>
      <p:bldP spid="35" grpId="0" uiExpand="1" animBg="1"/>
      <p:bldP spid="35" grpId="1" uiExpand="1" animBg="1"/>
      <p:bldP spid="36" grpId="0"/>
      <p:bldP spid="38" grpId="0"/>
      <p:bldP spid="40" grpId="0"/>
      <p:bldP spid="42" grpId="0"/>
      <p:bldP spid="47" grpId="0"/>
      <p:bldP spid="19" grpId="0" uiExpand="1" animBg="1"/>
      <p:bldP spid="15" grpId="0" animBg="1"/>
      <p:bldP spid="15" grpId="1" uiExpand="1" animBg="1"/>
      <p:bldP spid="32" grpId="0" uiExpand="1" animBg="1"/>
      <p:bldP spid="32" grpId="1" uiExpand="1" animBg="1"/>
      <p:bldP spid="33" grpId="0" uiExpand="1" animBg="1"/>
      <p:bldP spid="33" grpId="1" uiExpand="1" animBg="1"/>
      <p:bldP spid="44" grpId="0" uiExpand="1" animBg="1"/>
      <p:bldP spid="44" grpId="1" uiExpand="1" animBg="1"/>
      <p:bldP spid="45" grpId="0" uiExpand="1" animBg="1"/>
      <p:bldP spid="46" grpId="0" uiExpand="1" animBg="1"/>
      <p:bldP spid="46" grpId="1" uiExpan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0419C-0A82-AE27-8EB9-05DACD93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F108311-5F9E-208D-EA4B-40F8AA54DB43}"/>
              </a:ext>
            </a:extLst>
          </p:cNvPr>
          <p:cNvSpPr/>
          <p:nvPr/>
        </p:nvSpPr>
        <p:spPr>
          <a:xfrm>
            <a:off x="1930400" y="1440288"/>
            <a:ext cx="5068328" cy="4781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1104EE-097C-0CE3-5C88-C11508CE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099" y="1504376"/>
            <a:ext cx="4852930" cy="46531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F3B99BB-3CDD-C0DA-9443-CF4DA2CCAA0B}"/>
              </a:ext>
            </a:extLst>
          </p:cNvPr>
          <p:cNvSpPr txBox="1">
            <a:spLocks/>
          </p:cNvSpPr>
          <p:nvPr/>
        </p:nvSpPr>
        <p:spPr>
          <a:xfrm>
            <a:off x="1778629" y="345696"/>
            <a:ext cx="8656736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Combining top 2 markers to separate healthy/depressed</a:t>
            </a:r>
            <a:endParaRPr lang="en-US" sz="2800" dirty="0">
              <a:latin typeface="Dosis SemiBol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D4442A-EFC8-04A5-E466-C7E44925DC68}"/>
              </a:ext>
            </a:extLst>
          </p:cNvPr>
          <p:cNvSpPr txBox="1"/>
          <p:nvPr/>
        </p:nvSpPr>
        <p:spPr>
          <a:xfrm>
            <a:off x="7176056" y="1440288"/>
            <a:ext cx="377863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000" dirty="0" err="1">
                <a:latin typeface="Dosis Light" pitchFamily="2" charset="0"/>
              </a:rPr>
              <a:t>Colour</a:t>
            </a:r>
            <a:r>
              <a:rPr lang="en-US" sz="2000" dirty="0">
                <a:latin typeface="Dosis Light" pitchFamily="2" charset="0"/>
              </a:rPr>
              <a:t>-map is the </a:t>
            </a:r>
            <a:r>
              <a:rPr lang="en-US" sz="2000" dirty="0">
                <a:latin typeface="Dosis Medium" pitchFamily="2" charset="0"/>
              </a:rPr>
              <a:t>Bayesian posterior probability</a:t>
            </a:r>
            <a:r>
              <a:rPr lang="en-US" sz="2000" dirty="0">
                <a:latin typeface="Dosis Light" pitchFamily="2" charset="0"/>
              </a:rPr>
              <a:t> of healthy.</a:t>
            </a:r>
          </a:p>
          <a:p>
            <a:pPr>
              <a:spcBef>
                <a:spcPts val="1800"/>
              </a:spcBef>
            </a:pPr>
            <a:r>
              <a:rPr lang="en-US" sz="2000" dirty="0">
                <a:latin typeface="Dosis Medium" pitchFamily="2" charset="0"/>
              </a:rPr>
              <a:t>Quadratic boundary </a:t>
            </a:r>
            <a:r>
              <a:rPr lang="en-US" sz="2000" dirty="0">
                <a:latin typeface="Dosis Light" pitchFamily="2" charset="0"/>
              </a:rPr>
              <a:t>exploits narrow range of cortisol in healthy, linear boundary can’t.</a:t>
            </a:r>
          </a:p>
          <a:p>
            <a:pPr>
              <a:spcBef>
                <a:spcPts val="1800"/>
              </a:spcBef>
            </a:pPr>
            <a:r>
              <a:rPr lang="en-US" sz="2000" dirty="0">
                <a:latin typeface="Dosis Light" pitchFamily="2" charset="0"/>
              </a:rPr>
              <a:t>When combining a new marker, only </a:t>
            </a:r>
            <a:r>
              <a:rPr lang="en-US" sz="2000" dirty="0">
                <a:latin typeface="Dosis Medium" pitchFamily="2" charset="0"/>
              </a:rPr>
              <a:t>new info </a:t>
            </a:r>
            <a:r>
              <a:rPr lang="en-US" sz="2000" dirty="0">
                <a:latin typeface="Dosis Light" pitchFamily="2" charset="0"/>
              </a:rPr>
              <a:t>counts.</a:t>
            </a:r>
          </a:p>
          <a:p>
            <a:pPr>
              <a:spcBef>
                <a:spcPts val="1800"/>
              </a:spcBef>
            </a:pPr>
            <a:r>
              <a:rPr lang="en-US" sz="2000" dirty="0">
                <a:latin typeface="Dosis Light" pitchFamily="2" charset="0"/>
              </a:rPr>
              <a:t>Added CRP not because it is second-best, but because it </a:t>
            </a:r>
            <a:r>
              <a:rPr lang="en-US" sz="2000" dirty="0">
                <a:latin typeface="Dosis Medium" pitchFamily="2" charset="0"/>
              </a:rPr>
              <a:t>adds the most separation.</a:t>
            </a:r>
          </a:p>
          <a:p>
            <a:pPr>
              <a:spcBef>
                <a:spcPts val="1800"/>
              </a:spcBef>
            </a:pPr>
            <a:r>
              <a:rPr lang="en-US" sz="2000" dirty="0">
                <a:latin typeface="Dosis Medium" pitchFamily="2" charset="0"/>
              </a:rPr>
              <a:t>P(H)</a:t>
            </a:r>
            <a:r>
              <a:rPr lang="en-US" sz="2000" dirty="0">
                <a:latin typeface="Dosis Light" pitchFamily="2" charset="0"/>
              </a:rPr>
              <a:t> is the </a:t>
            </a:r>
            <a:r>
              <a:rPr lang="en-US" sz="2000" dirty="0">
                <a:latin typeface="Dosis Medium" pitchFamily="2" charset="0"/>
              </a:rPr>
              <a:t>single combined marker.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2B2A91-EFDA-3E3F-AE3D-03347B5EDCAC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4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74CB4-B7BC-3764-8E97-6A5825C610CC}"/>
              </a:ext>
            </a:extLst>
          </p:cNvPr>
          <p:cNvSpPr txBox="1"/>
          <p:nvPr/>
        </p:nvSpPr>
        <p:spPr>
          <a:xfrm>
            <a:off x="2241575" y="1495674"/>
            <a:ext cx="1755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Dosis" panose="02010503020202060003" pitchFamily="2" charset="0"/>
              </a:rPr>
              <a:t>healthy</a:t>
            </a:r>
            <a:r>
              <a:rPr lang="en-US" sz="1600" dirty="0">
                <a:latin typeface="Dosis" panose="02010503020202060003" pitchFamily="2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Dosis" panose="02010503020202060003" pitchFamily="2" charset="0"/>
              </a:rPr>
              <a:t>depressed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09865-40B2-BF3E-CED6-0E35207BC0CC}"/>
              </a:ext>
            </a:extLst>
          </p:cNvPr>
          <p:cNvSpPr txBox="1"/>
          <p:nvPr/>
        </p:nvSpPr>
        <p:spPr>
          <a:xfrm>
            <a:off x="2916590" y="4082494"/>
            <a:ext cx="16465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Dosis" panose="02010503020202060003" pitchFamily="2" charset="0"/>
              </a:rPr>
              <a:t>quadratic boundary: </a:t>
            </a:r>
            <a:r>
              <a:rPr lang="en-US" sz="1700" dirty="0">
                <a:latin typeface="Dosis SemiBold" pitchFamily="2" charset="0"/>
              </a:rPr>
              <a:t>84%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37B73-5075-3989-FA89-A8FD53C30247}"/>
              </a:ext>
            </a:extLst>
          </p:cNvPr>
          <p:cNvSpPr txBox="1"/>
          <p:nvPr/>
        </p:nvSpPr>
        <p:spPr>
          <a:xfrm>
            <a:off x="4478297" y="2332840"/>
            <a:ext cx="158812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0" dirty="0">
                <a:solidFill>
                  <a:schemeClr val="bg1">
                    <a:lumMod val="50000"/>
                  </a:schemeClr>
                </a:solidFill>
                <a:latin typeface="Dosis" panose="02010503020202060003" pitchFamily="2" charset="0"/>
              </a:rPr>
              <a:t>linear boundary:     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latin typeface="Dosis SemiBold" pitchFamily="2" charset="0"/>
              </a:rPr>
              <a:t>74%</a:t>
            </a:r>
            <a:endParaRPr lang="en-US" sz="1700" dirty="0">
              <a:latin typeface="Dosis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6316D-7524-9B35-B629-A9E8735C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61087E-758B-B4A0-D5B0-0A9B9426D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5996"/>
            <a:ext cx="8926215" cy="601646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1E5964C-A867-0D89-1A41-74ECBAB6D75E}"/>
              </a:ext>
            </a:extLst>
          </p:cNvPr>
          <p:cNvSpPr txBox="1">
            <a:spLocks/>
          </p:cNvSpPr>
          <p:nvPr/>
        </p:nvSpPr>
        <p:spPr>
          <a:xfrm>
            <a:off x="524351" y="131636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800" dirty="0"/>
              <a:t>Building an optimal combination of </a:t>
            </a:r>
            <a:r>
              <a:rPr lang="en-US" sz="2800" dirty="0">
                <a:latin typeface="Dosis ExtraBold" pitchFamily="2" charset="0"/>
              </a:rPr>
              <a:t>separation</a:t>
            </a:r>
            <a:r>
              <a:rPr lang="en-US" sz="2800" dirty="0"/>
              <a:t> markers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A090E-D337-4B14-ACFA-994EC0B25955}"/>
              </a:ext>
            </a:extLst>
          </p:cNvPr>
          <p:cNvSpPr txBox="1"/>
          <p:nvPr/>
        </p:nvSpPr>
        <p:spPr>
          <a:xfrm>
            <a:off x="8719794" y="571542"/>
            <a:ext cx="3341025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Used </a:t>
            </a:r>
            <a:r>
              <a:rPr lang="en-US" sz="2000" dirty="0">
                <a:latin typeface="Dosis Medium" pitchFamily="2" charset="0"/>
              </a:rPr>
              <a:t>greedy algorithm</a:t>
            </a:r>
            <a:r>
              <a:rPr lang="en-US" sz="2000" dirty="0">
                <a:latin typeface="Dosis Light" pitchFamily="2" charset="0"/>
              </a:rPr>
              <a:t> to add markers one by one.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Found mean ranks across many runs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Medium" pitchFamily="2" charset="0"/>
              </a:rPr>
              <a:t>Combined separation </a:t>
            </a:r>
            <a:r>
              <a:rPr lang="en-US" sz="2000" dirty="0">
                <a:latin typeface="Dosis Light" pitchFamily="2" charset="0"/>
              </a:rPr>
              <a:t>first rises </a:t>
            </a:r>
            <a:r>
              <a:rPr lang="en-US" sz="2000" dirty="0">
                <a:latin typeface="Dosis Medium" pitchFamily="2" charset="0"/>
              </a:rPr>
              <a:t>(underfitting)</a:t>
            </a:r>
            <a:r>
              <a:rPr lang="en-US" sz="2000" dirty="0">
                <a:latin typeface="Dosis Light" pitchFamily="2" charset="0"/>
              </a:rPr>
              <a:t>, then falls </a:t>
            </a:r>
            <a:r>
              <a:rPr lang="en-US" sz="2000" dirty="0">
                <a:latin typeface="Dosis Medium" pitchFamily="2" charset="0"/>
              </a:rPr>
              <a:t>(overfitting)</a:t>
            </a:r>
            <a:r>
              <a:rPr lang="en-US" sz="2000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Quadratic boundaries are significantly better than linear for up to 15 dimensions.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Combining</a:t>
            </a:r>
            <a:r>
              <a:rPr lang="en-US" sz="2000" dirty="0">
                <a:latin typeface="Dosis Medium" pitchFamily="2" charset="0"/>
              </a:rPr>
              <a:t> salivary cortisol and CRP</a:t>
            </a:r>
            <a:r>
              <a:rPr lang="en-US" sz="2000" dirty="0">
                <a:latin typeface="Dosis Light" pitchFamily="2" charset="0"/>
              </a:rPr>
              <a:t> is good enough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Beyond these 2, best markers are not in order of individual separation accuracy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5862-DE5D-08AA-2ED9-88BA173916C3}"/>
              </a:ext>
            </a:extLst>
          </p:cNvPr>
          <p:cNvSpPr txBox="1">
            <a:spLocks/>
          </p:cNvSpPr>
          <p:nvPr/>
        </p:nvSpPr>
        <p:spPr>
          <a:xfrm>
            <a:off x="11063235" y="0"/>
            <a:ext cx="1128765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5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7FFA9-F26C-0F8F-D906-E7F81DEA4C47}"/>
              </a:ext>
            </a:extLst>
          </p:cNvPr>
          <p:cNvSpPr txBox="1"/>
          <p:nvPr/>
        </p:nvSpPr>
        <p:spPr>
          <a:xfrm>
            <a:off x="6393027" y="4782529"/>
            <a:ext cx="1351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E7E7E"/>
                </a:solidFill>
                <a:latin typeface="Dosis" pitchFamily="2" charset="0"/>
              </a:rPr>
              <a:t>linear boundary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1F1124-794B-04C0-05D3-E1C20208B3ED}"/>
              </a:ext>
            </a:extLst>
          </p:cNvPr>
          <p:cNvSpPr txBox="1"/>
          <p:nvPr/>
        </p:nvSpPr>
        <p:spPr>
          <a:xfrm>
            <a:off x="3837671" y="4238764"/>
            <a:ext cx="1580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Dosis" pitchFamily="2" charset="0"/>
              </a:rPr>
              <a:t>quadratic boundary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030A8-73CB-36AD-9635-2A512CB1A95A}"/>
              </a:ext>
            </a:extLst>
          </p:cNvPr>
          <p:cNvSpPr/>
          <p:nvPr/>
        </p:nvSpPr>
        <p:spPr>
          <a:xfrm>
            <a:off x="0" y="4155311"/>
            <a:ext cx="8719795" cy="2453833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27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1FED3-4EF6-CA62-B2B3-B6F10741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E7C1E4-885B-433F-DC93-6DB12F316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49" t="2835" r="11021" b="9971"/>
          <a:stretch>
            <a:fillRect/>
          </a:stretch>
        </p:blipFill>
        <p:spPr>
          <a:xfrm>
            <a:off x="390731" y="1255268"/>
            <a:ext cx="6174740" cy="533603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6C4EC-6CF7-8169-1754-27E3591DF9D6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6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DF0C7-B0BA-DA65-5FFA-11A40F58BC50}"/>
              </a:ext>
            </a:extLst>
          </p:cNvPr>
          <p:cNvSpPr txBox="1"/>
          <p:nvPr/>
        </p:nvSpPr>
        <p:spPr>
          <a:xfrm>
            <a:off x="620165" y="1255268"/>
            <a:ext cx="1755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Dosis" panose="02010503020202060003" pitchFamily="2" charset="0"/>
              </a:rPr>
              <a:t>healthy</a:t>
            </a:r>
            <a:r>
              <a:rPr lang="en-US" sz="1200" dirty="0">
                <a:latin typeface="Dosis" panose="02010503020202060003" pitchFamily="2" charset="0"/>
              </a:rPr>
              <a:t>   </a:t>
            </a:r>
            <a:r>
              <a:rPr lang="en-US" sz="1200" dirty="0">
                <a:solidFill>
                  <a:srgbClr val="FF0000"/>
                </a:solidFill>
                <a:latin typeface="Dosis" panose="02010503020202060003" pitchFamily="2" charset="0"/>
              </a:rPr>
              <a:t>depressed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9E3B1A-D0E0-A4CF-C897-33604E54FFFF}"/>
              </a:ext>
            </a:extLst>
          </p:cNvPr>
          <p:cNvSpPr txBox="1">
            <a:spLocks/>
          </p:cNvSpPr>
          <p:nvPr/>
        </p:nvSpPr>
        <p:spPr>
          <a:xfrm>
            <a:off x="849314" y="662711"/>
            <a:ext cx="1755389" cy="392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ayahuasca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3C6CEF-06C6-3EC2-CDF0-DEE4615DF6B3}"/>
              </a:ext>
            </a:extLst>
          </p:cNvPr>
          <p:cNvSpPr/>
          <p:nvPr/>
        </p:nvSpPr>
        <p:spPr>
          <a:xfrm>
            <a:off x="620165" y="4310281"/>
            <a:ext cx="2601364" cy="2488482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EFCA71-5F47-A530-A97B-CEFD064BF616}"/>
              </a:ext>
            </a:extLst>
          </p:cNvPr>
          <p:cNvSpPr/>
          <p:nvPr/>
        </p:nvSpPr>
        <p:spPr>
          <a:xfrm>
            <a:off x="3964107" y="4310281"/>
            <a:ext cx="2601364" cy="2488482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0898B1-16DC-83CA-7BCF-C7795DF2D626}"/>
              </a:ext>
            </a:extLst>
          </p:cNvPr>
          <p:cNvSpPr txBox="1">
            <a:spLocks/>
          </p:cNvSpPr>
          <p:nvPr/>
        </p:nvSpPr>
        <p:spPr>
          <a:xfrm>
            <a:off x="4491440" y="662711"/>
            <a:ext cx="1755389" cy="392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placebo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69544-8953-6429-78B4-0BCBCADEBD5F}"/>
              </a:ext>
            </a:extLst>
          </p:cNvPr>
          <p:cNvSpPr/>
          <p:nvPr/>
        </p:nvSpPr>
        <p:spPr>
          <a:xfrm>
            <a:off x="4013531" y="662711"/>
            <a:ext cx="2551940" cy="3517124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3B44607-7D7A-955D-C283-8DFF0D024123}"/>
              </a:ext>
            </a:extLst>
          </p:cNvPr>
          <p:cNvSpPr txBox="1">
            <a:spLocks/>
          </p:cNvSpPr>
          <p:nvPr/>
        </p:nvSpPr>
        <p:spPr>
          <a:xfrm>
            <a:off x="6826315" y="518513"/>
            <a:ext cx="5365686" cy="47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2. How do markers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change after treatment?</a:t>
            </a:r>
            <a:endParaRPr lang="en-US" sz="2400" dirty="0">
              <a:latin typeface="Dosis SemiBold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9EBE9-F8EB-FFA9-8224-09C0DCC5C724}"/>
              </a:ext>
            </a:extLst>
          </p:cNvPr>
          <p:cNvSpPr txBox="1"/>
          <p:nvPr/>
        </p:nvSpPr>
        <p:spPr>
          <a:xfrm>
            <a:off x="6826314" y="1348966"/>
            <a:ext cx="527387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These markers are being restored towards healthy values after ayahuasca treatment.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Average P(H) rises from 25% to 50%.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No such change after placebo.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No overall change for the healthy, with ayahuasca or placebo.</a:t>
            </a:r>
          </a:p>
        </p:txBody>
      </p:sp>
    </p:spTree>
    <p:extLst>
      <p:ext uri="{BB962C8B-B14F-4D97-AF65-F5344CB8AC3E}">
        <p14:creationId xmlns:p14="http://schemas.microsoft.com/office/powerpoint/2010/main" val="365052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 animBg="1"/>
      <p:bldP spid="1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2262A-47FD-A18A-EF75-E85F31D5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DE5900-9367-1A2A-E23A-0C5EC349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4" t="2531" b="5872"/>
          <a:stretch>
            <a:fillRect/>
          </a:stretch>
        </p:blipFill>
        <p:spPr>
          <a:xfrm>
            <a:off x="62821" y="798143"/>
            <a:ext cx="9327928" cy="588044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CDC720E-B859-93B1-1666-173B5F07229F}"/>
              </a:ext>
            </a:extLst>
          </p:cNvPr>
          <p:cNvSpPr txBox="1">
            <a:spLocks/>
          </p:cNvSpPr>
          <p:nvPr/>
        </p:nvSpPr>
        <p:spPr>
          <a:xfrm>
            <a:off x="578095" y="161503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800" dirty="0"/>
              <a:t>2. How are markers of the </a:t>
            </a:r>
            <a:r>
              <a:rPr lang="en-US" sz="2800" dirty="0">
                <a:solidFill>
                  <a:srgbClr val="FF0000"/>
                </a:solidFill>
              </a:rPr>
              <a:t>depressed </a:t>
            </a:r>
            <a:r>
              <a:rPr lang="en-US" sz="2800" dirty="0"/>
              <a:t>restored after treatment?</a:t>
            </a:r>
            <a:endParaRPr lang="en-US" sz="2800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B91691-B77F-B556-04A1-052F8D5F0A62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7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44C59-4FC7-18B8-A8E3-41BE796CB170}"/>
              </a:ext>
            </a:extLst>
          </p:cNvPr>
          <p:cNvSpPr txBox="1"/>
          <p:nvPr/>
        </p:nvSpPr>
        <p:spPr>
          <a:xfrm>
            <a:off x="9390749" y="852173"/>
            <a:ext cx="2654495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Markers are ranked by: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how much </a:t>
            </a:r>
            <a:r>
              <a:rPr lang="en-US" sz="1600" dirty="0" err="1">
                <a:latin typeface="Dosis Light" pitchFamily="2" charset="0"/>
              </a:rPr>
              <a:t>aya</a:t>
            </a:r>
            <a:r>
              <a:rPr lang="en-US" sz="1600" dirty="0">
                <a:latin typeface="Dosis Light" pitchFamily="2" charset="0"/>
              </a:rPr>
              <a:t> treatment restores it towards baseline healthy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Dosis Light" pitchFamily="2" charset="0"/>
              </a:rPr>
              <a:t>how much more </a:t>
            </a:r>
            <a:r>
              <a:rPr lang="en-US" sz="1600" dirty="0" err="1">
                <a:latin typeface="Dosis Light" pitchFamily="2" charset="0"/>
              </a:rPr>
              <a:t>aya</a:t>
            </a:r>
            <a:r>
              <a:rPr lang="en-US" sz="1600" dirty="0">
                <a:latin typeface="Dosis Light" pitchFamily="2" charset="0"/>
              </a:rPr>
              <a:t> restores it compared to placebo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markers that most separate H/D are </a:t>
            </a:r>
            <a:r>
              <a:rPr lang="en-US" dirty="0">
                <a:latin typeface="Dosis Medium" pitchFamily="2" charset="0"/>
              </a:rPr>
              <a:t>not</a:t>
            </a:r>
            <a:r>
              <a:rPr lang="en-US" dirty="0">
                <a:latin typeface="Dosis Light" pitchFamily="2" charset="0"/>
              </a:rPr>
              <a:t> the ones most restored.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only </a:t>
            </a:r>
            <a:r>
              <a:rPr lang="en-US" dirty="0">
                <a:latin typeface="Dosis Medium" pitchFamily="2" charset="0"/>
              </a:rPr>
              <a:t>CRP </a:t>
            </a:r>
            <a:r>
              <a:rPr lang="en-US" dirty="0">
                <a:latin typeface="Dosis Light" pitchFamily="2" charset="0"/>
              </a:rPr>
              <a:t>shows significant restoration by itself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Medium" pitchFamily="2" charset="0"/>
              </a:rPr>
              <a:t>top 2 markers combined </a:t>
            </a:r>
            <a:r>
              <a:rPr lang="en-US" dirty="0">
                <a:latin typeface="Dosis Light" pitchFamily="2" charset="0"/>
              </a:rPr>
              <a:t>shows more significant restoration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5A70B-D07E-B364-3E2C-2DDE8775CAA6}"/>
              </a:ext>
            </a:extLst>
          </p:cNvPr>
          <p:cNvSpPr txBox="1"/>
          <p:nvPr/>
        </p:nvSpPr>
        <p:spPr>
          <a:xfrm>
            <a:off x="4003234" y="1077072"/>
            <a:ext cx="18789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CE0A0A"/>
                </a:solidFill>
                <a:latin typeface="Dosis" pitchFamily="2" charset="0"/>
              </a:rPr>
              <a:t>ayahuasca</a:t>
            </a:r>
            <a:r>
              <a:rPr lang="en-US" sz="1600" dirty="0">
                <a:latin typeface="Dosis" pitchFamily="2" charset="0"/>
              </a:rPr>
              <a:t>     </a:t>
            </a:r>
            <a:r>
              <a:rPr lang="en-US" sz="1600" dirty="0">
                <a:solidFill>
                  <a:srgbClr val="FF9A9A"/>
                </a:solidFill>
                <a:latin typeface="Dosis" pitchFamily="2" charset="0"/>
              </a:rPr>
              <a:t>placebo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D0E2C-26FB-AE3B-506E-CCB6230FFD4D}"/>
              </a:ext>
            </a:extLst>
          </p:cNvPr>
          <p:cNvSpPr txBox="1"/>
          <p:nvPr/>
        </p:nvSpPr>
        <p:spPr>
          <a:xfrm>
            <a:off x="745441" y="5517431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***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0F10B-67BC-D067-EDE5-7FD41925A9BB}"/>
              </a:ext>
            </a:extLst>
          </p:cNvPr>
          <p:cNvSpPr txBox="1"/>
          <p:nvPr/>
        </p:nvSpPr>
        <p:spPr>
          <a:xfrm>
            <a:off x="1161533" y="5609926"/>
            <a:ext cx="276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Dosis Medium" pitchFamily="2" charset="0"/>
              </a:rPr>
              <a:t>*</a:t>
            </a:r>
            <a:endParaRPr lang="pt-BR" sz="1600" dirty="0">
              <a:latin typeface="Dosis Medium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B32B06-0083-5B12-78A1-7CE3F522DE88}"/>
              </a:ext>
            </a:extLst>
          </p:cNvPr>
          <p:cNvSpPr/>
          <p:nvPr/>
        </p:nvSpPr>
        <p:spPr>
          <a:xfrm>
            <a:off x="80290" y="5459240"/>
            <a:ext cx="9253195" cy="1280442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58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02B89-8228-38E0-0302-2EC756CE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363B57-C3BC-D595-7A0F-AFC93C98A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1" y="636569"/>
            <a:ext cx="9008198" cy="608979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E73CB47-D1D3-98B3-B040-CA30CDC0D2EA}"/>
              </a:ext>
            </a:extLst>
          </p:cNvPr>
          <p:cNvSpPr txBox="1">
            <a:spLocks/>
          </p:cNvSpPr>
          <p:nvPr/>
        </p:nvSpPr>
        <p:spPr>
          <a:xfrm>
            <a:off x="479086" y="131636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800" dirty="0"/>
              <a:t>Building an optimal combination of </a:t>
            </a:r>
            <a:r>
              <a:rPr lang="en-US" sz="2800" dirty="0">
                <a:latin typeface="Dosis ExtraBold" pitchFamily="2" charset="0"/>
              </a:rPr>
              <a:t>restoration</a:t>
            </a:r>
            <a:r>
              <a:rPr lang="en-US" sz="2800" dirty="0"/>
              <a:t> markers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306606-E5A9-76D2-4B8A-045E2885EF1E}"/>
              </a:ext>
            </a:extLst>
          </p:cNvPr>
          <p:cNvSpPr txBox="1"/>
          <p:nvPr/>
        </p:nvSpPr>
        <p:spPr>
          <a:xfrm>
            <a:off x="8719794" y="571542"/>
            <a:ext cx="334102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Medium" pitchFamily="2" charset="0"/>
              </a:rPr>
              <a:t>Combined restoration </a:t>
            </a:r>
            <a:r>
              <a:rPr lang="en-US" sz="2000" dirty="0">
                <a:latin typeface="Dosis Light" pitchFamily="2" charset="0"/>
              </a:rPr>
              <a:t>again</a:t>
            </a:r>
            <a:r>
              <a:rPr lang="en-US" sz="2000" dirty="0">
                <a:latin typeface="Dosis Medium" pitchFamily="2" charset="0"/>
              </a:rPr>
              <a:t> </a:t>
            </a:r>
            <a:r>
              <a:rPr lang="en-US" sz="2000" dirty="0">
                <a:latin typeface="Dosis Light" pitchFamily="2" charset="0"/>
              </a:rPr>
              <a:t>first rises </a:t>
            </a:r>
            <a:r>
              <a:rPr lang="en-US" sz="2000" dirty="0">
                <a:latin typeface="Dosis Medium" pitchFamily="2" charset="0"/>
              </a:rPr>
              <a:t>(underfitting)</a:t>
            </a:r>
            <a:r>
              <a:rPr lang="en-US" sz="2000" dirty="0">
                <a:latin typeface="Dosis Light" pitchFamily="2" charset="0"/>
              </a:rPr>
              <a:t>, then falls </a:t>
            </a:r>
            <a:r>
              <a:rPr lang="en-US" sz="2000" dirty="0">
                <a:latin typeface="Dosis Medium" pitchFamily="2" charset="0"/>
              </a:rPr>
              <a:t>(overfitting)</a:t>
            </a:r>
            <a:r>
              <a:rPr lang="en-US" sz="2000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Dosis Light" pitchFamily="2" charset="0"/>
              </a:rPr>
              <a:t>Combining</a:t>
            </a:r>
            <a:r>
              <a:rPr lang="en-US" sz="2000" dirty="0">
                <a:latin typeface="Dosis Medium" pitchFamily="2" charset="0"/>
              </a:rPr>
              <a:t> CRP and creatinine</a:t>
            </a:r>
            <a:r>
              <a:rPr lang="en-US" sz="2000" dirty="0">
                <a:latin typeface="Dosis Light" pitchFamily="2" charset="0"/>
              </a:rPr>
              <a:t> is good enough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19F07-BDDD-4C74-85EC-AD88B2A501CA}"/>
              </a:ext>
            </a:extLst>
          </p:cNvPr>
          <p:cNvSpPr txBox="1">
            <a:spLocks/>
          </p:cNvSpPr>
          <p:nvPr/>
        </p:nvSpPr>
        <p:spPr>
          <a:xfrm>
            <a:off x="11063235" y="0"/>
            <a:ext cx="1128765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8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458E9-D2D3-99B1-37CA-AE15780A371F}"/>
              </a:ext>
            </a:extLst>
          </p:cNvPr>
          <p:cNvSpPr/>
          <p:nvPr/>
        </p:nvSpPr>
        <p:spPr>
          <a:xfrm>
            <a:off x="56671" y="4120500"/>
            <a:ext cx="8719795" cy="2453833"/>
          </a:xfrm>
          <a:prstGeom prst="rect">
            <a:avLst/>
          </a:prstGeom>
          <a:solidFill>
            <a:srgbClr val="D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52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ED6C3-B85D-7FBB-4763-910C3880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93344FE-3D51-69AA-2C3F-77897723CF3D}"/>
              </a:ext>
            </a:extLst>
          </p:cNvPr>
          <p:cNvSpPr txBox="1">
            <a:spLocks/>
          </p:cNvSpPr>
          <p:nvPr/>
        </p:nvSpPr>
        <p:spPr>
          <a:xfrm>
            <a:off x="601522" y="365125"/>
            <a:ext cx="894083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600" dirty="0"/>
              <a:t>3. Are markers of the </a:t>
            </a:r>
            <a:r>
              <a:rPr lang="en-US" sz="2600" dirty="0">
                <a:solidFill>
                  <a:srgbClr val="0000FF"/>
                </a:solidFill>
              </a:rPr>
              <a:t>healthy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restored </a:t>
            </a:r>
            <a:r>
              <a:rPr lang="en-US" sz="2600" i="1" dirty="0"/>
              <a:t>even more</a:t>
            </a:r>
            <a:r>
              <a:rPr lang="en-US" sz="2600" dirty="0"/>
              <a:t> after treatment?</a:t>
            </a:r>
            <a:endParaRPr lang="en-US" sz="2600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08991F4-1017-118C-18F6-A3B3DAA53D41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9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4FB1C-5EED-4E69-D273-E5901B4196EE}"/>
              </a:ext>
            </a:extLst>
          </p:cNvPr>
          <p:cNvSpPr txBox="1"/>
          <p:nvPr/>
        </p:nvSpPr>
        <p:spPr>
          <a:xfrm>
            <a:off x="9179863" y="1309464"/>
            <a:ext cx="289748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Psychedelics for the </a:t>
            </a:r>
            <a:r>
              <a:rPr lang="en-US" dirty="0">
                <a:latin typeface="Dosis Medium" pitchFamily="2" charset="0"/>
              </a:rPr>
              <a:t>‘betterment of well people’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dirty="0"/>
              <a:t>Δ</a:t>
            </a:r>
            <a:r>
              <a:rPr lang="en-US" dirty="0">
                <a:latin typeface="Dosis Light" pitchFamily="2" charset="0"/>
              </a:rPr>
              <a:t>P(H) can show if the markers in the healthy shift </a:t>
            </a:r>
            <a:r>
              <a:rPr lang="en-US" dirty="0">
                <a:latin typeface="Dosis Medium" pitchFamily="2" charset="0"/>
              </a:rPr>
              <a:t>even closer to healthy values.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Medium" pitchFamily="2" charset="0"/>
              </a:rPr>
              <a:t>No individual marker </a:t>
            </a:r>
            <a:r>
              <a:rPr lang="en-US" dirty="0">
                <a:latin typeface="Dosis Light" pitchFamily="2" charset="0"/>
              </a:rPr>
              <a:t>showed such significant restoration.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Combining the top 2: only marginally significant restoration.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45DBE1-B947-D50B-0E94-592D886E7E3F}"/>
              </a:ext>
            </a:extLst>
          </p:cNvPr>
          <p:cNvGrpSpPr/>
          <p:nvPr/>
        </p:nvGrpSpPr>
        <p:grpSpPr>
          <a:xfrm>
            <a:off x="114655" y="1157051"/>
            <a:ext cx="9065208" cy="5677822"/>
            <a:chOff x="114655" y="1157051"/>
            <a:chExt cx="9065208" cy="567782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317F7A-CBF0-F39C-C22A-D8217F84C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55" y="1157051"/>
              <a:ext cx="9065208" cy="567782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C5B8CB-72EC-141C-4E19-C350AA8245AF}"/>
                </a:ext>
              </a:extLst>
            </p:cNvPr>
            <p:cNvSpPr txBox="1"/>
            <p:nvPr/>
          </p:nvSpPr>
          <p:spPr>
            <a:xfrm>
              <a:off x="3996966" y="1518907"/>
              <a:ext cx="1878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002B95"/>
                  </a:solidFill>
                  <a:latin typeface="Dosis" pitchFamily="2" charset="0"/>
                </a:rPr>
                <a:t>ayahuasca</a:t>
              </a:r>
              <a:r>
                <a:rPr lang="en-US" sz="1600" dirty="0">
                  <a:latin typeface="Dosis" pitchFamily="2" charset="0"/>
                </a:rPr>
                <a:t>     </a:t>
              </a:r>
              <a:r>
                <a:rPr lang="en-US" sz="1600" dirty="0">
                  <a:solidFill>
                    <a:srgbClr val="95C9FF"/>
                  </a:solidFill>
                  <a:latin typeface="Dosis" pitchFamily="2" charset="0"/>
                </a:rPr>
                <a:t>placebo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911ABB-FD17-820A-649C-A014AFE7E694}"/>
                </a:ext>
              </a:extLst>
            </p:cNvPr>
            <p:cNvSpPr txBox="1"/>
            <p:nvPr/>
          </p:nvSpPr>
          <p:spPr>
            <a:xfrm>
              <a:off x="1017398" y="5595043"/>
              <a:ext cx="2760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Dosis Medium" pitchFamily="2" charset="0"/>
                </a:rPr>
                <a:t>*</a:t>
              </a:r>
              <a:endParaRPr lang="pt-BR" sz="1600" dirty="0">
                <a:latin typeface="Dosis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954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D149D-28B2-130F-D348-C4556F34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4BD453-8B2E-0E44-2114-6BE65ED40C75}"/>
              </a:ext>
            </a:extLst>
          </p:cNvPr>
          <p:cNvSpPr txBox="1">
            <a:spLocks/>
          </p:cNvSpPr>
          <p:nvPr/>
        </p:nvSpPr>
        <p:spPr>
          <a:xfrm>
            <a:off x="6366237" y="365125"/>
            <a:ext cx="4886853" cy="9709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sz="2700" dirty="0"/>
              <a:t>4. Which marker </a:t>
            </a:r>
            <a:r>
              <a:rPr lang="en-US" sz="2700" dirty="0">
                <a:latin typeface="Dosis SemiBold" pitchFamily="2" charset="0"/>
              </a:rPr>
              <a:t>restorations</a:t>
            </a:r>
            <a:r>
              <a:rPr lang="en-US" sz="2700" dirty="0"/>
              <a:t> correlate with feeling better?</a:t>
            </a:r>
            <a:endParaRPr lang="en-US" sz="2700" dirty="0">
              <a:latin typeface="Dosis SemiBold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5E27989-134C-2D14-E921-23CCD3D23FB8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10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EC4D6-BEF4-B576-4217-1B6E41D05B0E}"/>
              </a:ext>
            </a:extLst>
          </p:cNvPr>
          <p:cNvSpPr txBox="1"/>
          <p:nvPr/>
        </p:nvSpPr>
        <p:spPr>
          <a:xfrm>
            <a:off x="6366237" y="1615065"/>
            <a:ext cx="488685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Plot against </a:t>
            </a:r>
            <a:r>
              <a:rPr lang="el-GR" dirty="0">
                <a:latin typeface="Dosis Medium" pitchFamily="2" charset="0"/>
              </a:rPr>
              <a:t>Δ</a:t>
            </a:r>
            <a:r>
              <a:rPr lang="en-US" dirty="0">
                <a:latin typeface="Dosis Medium" pitchFamily="2" charset="0"/>
              </a:rPr>
              <a:t>P(H) of biomarker</a:t>
            </a:r>
            <a:r>
              <a:rPr lang="en-US" dirty="0">
                <a:latin typeface="Dosis Light" pitchFamily="2" charset="0"/>
              </a:rPr>
              <a:t>, instead of </a:t>
            </a:r>
            <a:r>
              <a:rPr lang="en-US" dirty="0">
                <a:latin typeface="Dosis Medium" pitchFamily="2" charset="0"/>
              </a:rPr>
              <a:t>raw difference</a:t>
            </a:r>
            <a:r>
              <a:rPr lang="en-US" dirty="0">
                <a:latin typeface="Dosis Light" pitchFamily="2" charset="0"/>
              </a:rPr>
              <a:t>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We </a:t>
            </a:r>
            <a:r>
              <a:rPr lang="en-US" dirty="0">
                <a:latin typeface="Dosis Medium" pitchFamily="2" charset="0"/>
              </a:rPr>
              <a:t>keep placebo</a:t>
            </a:r>
            <a:r>
              <a:rPr lang="en-US" dirty="0">
                <a:latin typeface="Dosis Light" pitchFamily="2" charset="0"/>
              </a:rPr>
              <a:t> patients.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We want three criteria: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negative slope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cross-validated R</a:t>
            </a:r>
            <a:r>
              <a:rPr lang="en-US" baseline="30000" dirty="0">
                <a:latin typeface="Dosis Light" pitchFamily="2" charset="0"/>
              </a:rPr>
              <a:t>2</a:t>
            </a:r>
            <a:r>
              <a:rPr lang="en-US" dirty="0">
                <a:latin typeface="Dosis Light" pitchFamily="2" charset="0"/>
              </a:rPr>
              <a:t> &gt; 0</a:t>
            </a:r>
          </a:p>
          <a:p>
            <a:pPr marL="742950" lvl="1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p &lt; 0.05</a:t>
            </a:r>
            <a:endParaRPr lang="en-US" dirty="0">
              <a:latin typeface="Dosis Medium" pitchFamily="2" charset="0"/>
            </a:endParaRP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Dosis Light" pitchFamily="2" charset="0"/>
              </a:rPr>
              <a:t>Only </a:t>
            </a:r>
            <a:r>
              <a:rPr lang="en-US" dirty="0">
                <a:latin typeface="Dosis Medium" pitchFamily="2" charset="0"/>
              </a:rPr>
              <a:t>potassium and LDL</a:t>
            </a:r>
            <a:r>
              <a:rPr lang="en-US" dirty="0">
                <a:latin typeface="Dosis Light" pitchFamily="2" charset="0"/>
              </a:rPr>
              <a:t> shows a moderate effect.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8576DF-CFBB-82E4-0D7C-B74C5E9FF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86" y="230202"/>
            <a:ext cx="5305425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7EB53-1995-0DF9-60E5-85CF0F4F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648" b="81610"/>
          <a:stretch>
            <a:fillRect/>
          </a:stretch>
        </p:blipFill>
        <p:spPr>
          <a:xfrm>
            <a:off x="521486" y="230202"/>
            <a:ext cx="1345037" cy="8758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E32884-9798-549D-6BE7-60BF3DB18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23" y="5107292"/>
            <a:ext cx="5905877" cy="154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0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910F8-55C8-B37A-EC3A-77E24DDC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7E67BD-8E41-BD4D-3EE4-469B298B7D49}"/>
              </a:ext>
            </a:extLst>
          </p:cNvPr>
          <p:cNvSpPr txBox="1">
            <a:spLocks/>
          </p:cNvSpPr>
          <p:nvPr/>
        </p:nvSpPr>
        <p:spPr>
          <a:xfrm>
            <a:off x="598503" y="274082"/>
            <a:ext cx="8297380" cy="5943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Conclusions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F23B72A-0538-6A29-5B85-3D0755514F92}"/>
              </a:ext>
            </a:extLst>
          </p:cNvPr>
          <p:cNvSpPr txBox="1">
            <a:spLocks/>
          </p:cNvSpPr>
          <p:nvPr/>
        </p:nvSpPr>
        <p:spPr>
          <a:xfrm>
            <a:off x="598502" y="1027611"/>
            <a:ext cx="6594777" cy="5495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Medium" pitchFamily="2" charset="0"/>
              </a:rPr>
              <a:t>Salivary cortisol and CRP</a:t>
            </a:r>
            <a:r>
              <a:rPr lang="en-US" sz="2200" dirty="0">
                <a:latin typeface="Dosis Light" pitchFamily="2" charset="0"/>
              </a:rPr>
              <a:t> together best separate baseline healthy from depressed, by 84%.</a:t>
            </a:r>
          </a:p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Light" pitchFamily="2" charset="0"/>
              </a:rPr>
              <a:t>In the depressed, </a:t>
            </a:r>
            <a:r>
              <a:rPr lang="en-US" sz="2200" dirty="0">
                <a:latin typeface="Dosis Medium" pitchFamily="2" charset="0"/>
              </a:rPr>
              <a:t>CRP </a:t>
            </a:r>
            <a:r>
              <a:rPr lang="en-US" sz="2200" dirty="0">
                <a:latin typeface="Dosis Light" pitchFamily="2" charset="0"/>
              </a:rPr>
              <a:t>&amp;</a:t>
            </a:r>
            <a:r>
              <a:rPr lang="en-US" sz="2200" dirty="0">
                <a:latin typeface="Dosis Medium" pitchFamily="2" charset="0"/>
              </a:rPr>
              <a:t> creatinine</a:t>
            </a:r>
            <a:r>
              <a:rPr lang="en-US" sz="2200" dirty="0">
                <a:latin typeface="Dosis Light" pitchFamily="2" charset="0"/>
              </a:rPr>
              <a:t> were restored most towards healthy values after ayahuasca treatment, compared to placebo.</a:t>
            </a:r>
          </a:p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Light" pitchFamily="2" charset="0"/>
              </a:rPr>
              <a:t>In the healthy, </a:t>
            </a:r>
            <a:r>
              <a:rPr lang="en-US" sz="2200" dirty="0">
                <a:latin typeface="Dosis Medium" pitchFamily="2" charset="0"/>
              </a:rPr>
              <a:t>no markers</a:t>
            </a:r>
            <a:r>
              <a:rPr lang="en-US" sz="2200" dirty="0">
                <a:latin typeface="Dosis Light" pitchFamily="2" charset="0"/>
              </a:rPr>
              <a:t> were restored much after treatment.</a:t>
            </a:r>
          </a:p>
          <a:p>
            <a:pPr>
              <a:spcBef>
                <a:spcPts val="1200"/>
              </a:spcBef>
              <a:spcAft>
                <a:spcPts val="3600"/>
              </a:spcAft>
            </a:pPr>
            <a:r>
              <a:rPr lang="en-US" sz="2200" dirty="0">
                <a:latin typeface="Dosis Light" pitchFamily="2" charset="0"/>
              </a:rPr>
              <a:t>Restorations in </a:t>
            </a:r>
            <a:r>
              <a:rPr lang="en-US" sz="2200" dirty="0">
                <a:latin typeface="Dosis Medium" pitchFamily="2" charset="0"/>
              </a:rPr>
              <a:t>Potassium and LDL</a:t>
            </a:r>
            <a:r>
              <a:rPr lang="en-US" sz="2200" dirty="0">
                <a:latin typeface="Dosis Light" pitchFamily="2" charset="0"/>
              </a:rPr>
              <a:t> are moderately correlated with improvements in depression.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41A110-0FCD-4C06-86C6-DF5C03257CFE}"/>
              </a:ext>
            </a:extLst>
          </p:cNvPr>
          <p:cNvSpPr txBox="1">
            <a:spLocks/>
          </p:cNvSpPr>
          <p:nvPr/>
        </p:nvSpPr>
        <p:spPr>
          <a:xfrm>
            <a:off x="11133573" y="0"/>
            <a:ext cx="1058427" cy="36512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chemeClr val="tx1"/>
                </a:solidFill>
                <a:latin typeface="Dosis" panose="0201050302020206000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latin typeface="Dosis Light" pitchFamily="2" charset="0"/>
              </a:rPr>
              <a:t>slide </a:t>
            </a:r>
            <a:fld id="{B5CEABB6-07DC-46E8-9B57-56EC44A396E5}" type="slidenum">
              <a:rPr lang="en-US" sz="1600" smtClean="0">
                <a:latin typeface="Dosis Light" pitchFamily="2" charset="0"/>
              </a:rPr>
              <a:pPr algn="r"/>
              <a:t>11</a:t>
            </a:fld>
            <a:r>
              <a:rPr lang="en-US" sz="1600" dirty="0">
                <a:latin typeface="Dosis Light" pitchFamily="2" charset="0"/>
              </a:rPr>
              <a:t> of 11</a:t>
            </a:r>
          </a:p>
        </p:txBody>
      </p:sp>
      <p:pic>
        <p:nvPicPr>
          <p:cNvPr id="2" name="Picture 1" descr="The provided text appears to be a list of abbreviations and numerical values, likely from a scientific or medical dataset, with various health-related metrics and biomarkers.&#10;&#10;AI-generated content may be incorrect.">
            <a:extLst>
              <a:ext uri="{FF2B5EF4-FFF2-40B4-BE49-F238E27FC236}">
                <a16:creationId xmlns:a16="http://schemas.microsoft.com/office/drawing/2014/main" id="{D34D3935-C822-DE03-5EA0-4B8341C9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6" t="2054" r="74069" b="80877"/>
          <a:stretch>
            <a:fillRect/>
          </a:stretch>
        </p:blipFill>
        <p:spPr>
          <a:xfrm>
            <a:off x="7032052" y="4433742"/>
            <a:ext cx="1704307" cy="1253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53316E-12D6-B05B-CA72-1AEBB7843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04" t="7644" r="60240" b="58651"/>
          <a:stretch>
            <a:fillRect/>
          </a:stretch>
        </p:blipFill>
        <p:spPr>
          <a:xfrm>
            <a:off x="7324345" y="2110795"/>
            <a:ext cx="1296907" cy="131820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0DA717E-406C-4EEE-1A41-006C07B43306}"/>
              </a:ext>
            </a:extLst>
          </p:cNvPr>
          <p:cNvGrpSpPr/>
          <p:nvPr/>
        </p:nvGrpSpPr>
        <p:grpSpPr>
          <a:xfrm>
            <a:off x="7324345" y="716589"/>
            <a:ext cx="1276447" cy="1275173"/>
            <a:chOff x="7324345" y="716589"/>
            <a:chExt cx="1276447" cy="127517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3585F3-0197-53A0-A5C8-AD1DD9334091}"/>
                </a:ext>
              </a:extLst>
            </p:cNvPr>
            <p:cNvSpPr/>
            <p:nvPr/>
          </p:nvSpPr>
          <p:spPr>
            <a:xfrm>
              <a:off x="7324345" y="716589"/>
              <a:ext cx="1276447" cy="127517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DC4672-67E0-26C2-A4DD-664CCB21C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32" r="14392"/>
            <a:stretch>
              <a:fillRect/>
            </a:stretch>
          </p:blipFill>
          <p:spPr>
            <a:xfrm>
              <a:off x="7357979" y="761856"/>
              <a:ext cx="1136750" cy="1211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158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E912162-59FB-7121-8BB7-5A916DDB168D}"/>
              </a:ext>
            </a:extLst>
          </p:cNvPr>
          <p:cNvGrpSpPr/>
          <p:nvPr/>
        </p:nvGrpSpPr>
        <p:grpSpPr>
          <a:xfrm>
            <a:off x="3004885" y="3315741"/>
            <a:ext cx="3189039" cy="1364996"/>
            <a:chOff x="579500" y="2186664"/>
            <a:chExt cx="3189039" cy="136499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418A6FF-CB13-A7C9-81E5-3A980553D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3" r="893"/>
            <a:stretch/>
          </p:blipFill>
          <p:spPr>
            <a:xfrm>
              <a:off x="579500" y="2186664"/>
              <a:ext cx="1385915" cy="13649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8913A0-E1F5-4B86-756E-8577A31E9E14}"/>
                </a:ext>
              </a:extLst>
            </p:cNvPr>
            <p:cNvSpPr txBox="1"/>
            <p:nvPr/>
          </p:nvSpPr>
          <p:spPr>
            <a:xfrm>
              <a:off x="2091673" y="2402031"/>
              <a:ext cx="16768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Inácio Gomes Medeiros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AA5AD7-3712-124C-7F79-03CE893983D1}"/>
              </a:ext>
            </a:extLst>
          </p:cNvPr>
          <p:cNvGrpSpPr/>
          <p:nvPr/>
        </p:nvGrpSpPr>
        <p:grpSpPr>
          <a:xfrm>
            <a:off x="8178256" y="1450333"/>
            <a:ext cx="3028166" cy="1364995"/>
            <a:chOff x="576821" y="4256994"/>
            <a:chExt cx="3028166" cy="1364995"/>
          </a:xfrm>
        </p:grpSpPr>
        <p:pic>
          <p:nvPicPr>
            <p:cNvPr id="20" name="Picture 4" descr="Sérgio Arthuro é médico e neurocientista - Wallacy Medeiros">
              <a:extLst>
                <a:ext uri="{FF2B5EF4-FFF2-40B4-BE49-F238E27FC236}">
                  <a16:creationId xmlns:a16="http://schemas.microsoft.com/office/drawing/2014/main" id="{7F41F9B1-30FF-FB41-CD2B-36FFB87A65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576821" y="4256994"/>
              <a:ext cx="1364995" cy="13649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DE592D-CAA3-93D1-EB1E-CEAB0485B097}"/>
                </a:ext>
              </a:extLst>
            </p:cNvPr>
            <p:cNvSpPr txBox="1"/>
            <p:nvPr/>
          </p:nvSpPr>
          <p:spPr>
            <a:xfrm>
              <a:off x="2065105" y="4548300"/>
              <a:ext cx="153988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Sergio Mota-Rolim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AA778E-A7E6-BB4C-38DD-115A3C5F9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908" y="5793443"/>
            <a:ext cx="2863016" cy="71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D74E09CC-585C-BF51-8415-966CEF70DC89}"/>
              </a:ext>
            </a:extLst>
          </p:cNvPr>
          <p:cNvSpPr txBox="1">
            <a:spLocks/>
          </p:cNvSpPr>
          <p:nvPr/>
        </p:nvSpPr>
        <p:spPr>
          <a:xfrm>
            <a:off x="1716809" y="213416"/>
            <a:ext cx="8297380" cy="872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0" cap="none" baseline="0">
                <a:latin typeface="Dosis Medium" panose="02010603020202060003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Thanks</a:t>
            </a:r>
          </a:p>
        </p:txBody>
      </p:sp>
      <p:pic>
        <p:nvPicPr>
          <p:cNvPr id="1028" name="Picture 4" descr="Finep adota novo descritivo: Empresa Brasileira de Inovação e Pesquisa">
            <a:extLst>
              <a:ext uri="{FF2B5EF4-FFF2-40B4-BE49-F238E27FC236}">
                <a16:creationId xmlns:a16="http://schemas.microsoft.com/office/drawing/2014/main" id="{5E263880-125B-C8BC-2DDA-AE9AB74548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13451" t="17552" r="11535" b="17870"/>
          <a:stretch>
            <a:fillRect/>
          </a:stretch>
        </p:blipFill>
        <p:spPr bwMode="auto">
          <a:xfrm>
            <a:off x="6410638" y="5407667"/>
            <a:ext cx="2313992" cy="120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BD6AE8B-4D2B-0994-5F1A-AFDB034C800A}"/>
              </a:ext>
            </a:extLst>
          </p:cNvPr>
          <p:cNvGrpSpPr/>
          <p:nvPr/>
        </p:nvGrpSpPr>
        <p:grpSpPr>
          <a:xfrm>
            <a:off x="857239" y="1443861"/>
            <a:ext cx="3412659" cy="1364995"/>
            <a:chOff x="581833" y="1443861"/>
            <a:chExt cx="3412659" cy="13649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F6D7EA-1991-528A-0E3E-C6CE010BC809}"/>
                </a:ext>
              </a:extLst>
            </p:cNvPr>
            <p:cNvSpPr txBox="1"/>
            <p:nvPr/>
          </p:nvSpPr>
          <p:spPr>
            <a:xfrm>
              <a:off x="2093773" y="1676974"/>
              <a:ext cx="19007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Fernanda Palhano-fontes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D67CD3-256A-7A9D-D5E0-AC7B9CA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560" r="4560"/>
            <a:stretch/>
          </p:blipFill>
          <p:spPr>
            <a:xfrm>
              <a:off x="581833" y="1443861"/>
              <a:ext cx="1364995" cy="13649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F31DBA-E5B5-6642-5FEE-B5492812BEEE}"/>
              </a:ext>
            </a:extLst>
          </p:cNvPr>
          <p:cNvGrpSpPr/>
          <p:nvPr/>
        </p:nvGrpSpPr>
        <p:grpSpPr>
          <a:xfrm>
            <a:off x="4517058" y="1443861"/>
            <a:ext cx="3172770" cy="1371467"/>
            <a:chOff x="8724630" y="1443861"/>
            <a:chExt cx="3172770" cy="137146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428A9B-23DB-643D-CD9D-F7DA46501625}"/>
                </a:ext>
              </a:extLst>
            </p:cNvPr>
            <p:cNvSpPr txBox="1"/>
            <p:nvPr/>
          </p:nvSpPr>
          <p:spPr>
            <a:xfrm>
              <a:off x="10220534" y="1748109"/>
              <a:ext cx="16768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Rodrigo Santiago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126B8DC-52BA-F8ED-5627-E23DEA25C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835" t="5650" r="7177" b="28111"/>
            <a:stretch>
              <a:fillRect/>
            </a:stretch>
          </p:blipFill>
          <p:spPr>
            <a:xfrm>
              <a:off x="8724630" y="1443861"/>
              <a:ext cx="1366374" cy="137146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B596ACD-F8D5-2166-66DA-FA2C85FE4D93}"/>
              </a:ext>
            </a:extLst>
          </p:cNvPr>
          <p:cNvGrpSpPr/>
          <p:nvPr/>
        </p:nvGrpSpPr>
        <p:grpSpPr>
          <a:xfrm>
            <a:off x="6633256" y="3309270"/>
            <a:ext cx="3161192" cy="1371467"/>
            <a:chOff x="6538988" y="3258613"/>
            <a:chExt cx="3161192" cy="137146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4EBCEB-68FF-3BEC-17FC-4220A56E4129}"/>
                </a:ext>
              </a:extLst>
            </p:cNvPr>
            <p:cNvSpPr txBox="1"/>
            <p:nvPr/>
          </p:nvSpPr>
          <p:spPr>
            <a:xfrm>
              <a:off x="7989767" y="3559627"/>
              <a:ext cx="17104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200" dirty="0">
                  <a:latin typeface="Dosis" pitchFamily="2" charset="0"/>
                </a:rPr>
                <a:t>Wilson Geisler</a:t>
              </a:r>
            </a:p>
            <a:p>
              <a:r>
                <a:rPr lang="pt-BR" sz="1400" dirty="0">
                  <a:latin typeface="Dosis" pitchFamily="2" charset="0"/>
                </a:rPr>
                <a:t>UT Austin</a:t>
              </a:r>
            </a:p>
          </p:txBody>
        </p:sp>
        <p:pic>
          <p:nvPicPr>
            <p:cNvPr id="3" name="Picture 2" descr="Wilson S Geisler III">
              <a:extLst>
                <a:ext uri="{FF2B5EF4-FFF2-40B4-BE49-F238E27FC236}">
                  <a16:creationId xmlns:a16="http://schemas.microsoft.com/office/drawing/2014/main" id="{8C552275-6BDB-9A43-CB14-76B535D6C3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/>
            <a:srcRect b="32854"/>
            <a:stretch>
              <a:fillRect/>
            </a:stretch>
          </p:blipFill>
          <p:spPr bwMode="auto">
            <a:xfrm>
              <a:off x="6538988" y="3258613"/>
              <a:ext cx="1361678" cy="137146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4280</TotalTime>
  <Words>952</Words>
  <Application>Microsoft Office PowerPoint</Application>
  <PresentationFormat>Widescreen</PresentationFormat>
  <Paragraphs>155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Avenir Next LT Pro Light</vt:lpstr>
      <vt:lpstr>Calibri</vt:lpstr>
      <vt:lpstr>Dosis</vt:lpstr>
      <vt:lpstr>Dosis ExtraBold</vt:lpstr>
      <vt:lpstr>Dosis Light</vt:lpstr>
      <vt:lpstr>Dosis Medium</vt:lpstr>
      <vt:lpstr>Dosis SemiBold</vt:lpstr>
      <vt:lpstr>Posterama</vt:lpstr>
      <vt:lpstr>Custom</vt:lpstr>
      <vt:lpstr>Biomarkers in Treating Depression with Ayahuasca</vt:lpstr>
      <vt:lpstr>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Abhranil</dc:creator>
  <cp:lastModifiedBy>Das, Abhranil</cp:lastModifiedBy>
  <cp:revision>379</cp:revision>
  <dcterms:created xsi:type="dcterms:W3CDTF">2025-12-08T18:59:40Z</dcterms:created>
  <dcterms:modified xsi:type="dcterms:W3CDTF">2026-06-30T20:00:33Z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